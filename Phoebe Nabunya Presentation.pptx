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39"/>
  </p:notesMasterIdLst>
  <p:sldIdLst>
    <p:sldId id="290" r:id="rId2"/>
    <p:sldId id="289" r:id="rId3"/>
    <p:sldId id="256" r:id="rId4"/>
    <p:sldId id="257" r:id="rId5"/>
    <p:sldId id="258" r:id="rId6"/>
    <p:sldId id="259" r:id="rId7"/>
    <p:sldId id="260" r:id="rId8"/>
    <p:sldId id="261" r:id="rId9"/>
    <p:sldId id="268" r:id="rId10"/>
    <p:sldId id="265" r:id="rId11"/>
    <p:sldId id="272" r:id="rId12"/>
    <p:sldId id="264" r:id="rId13"/>
    <p:sldId id="285" r:id="rId14"/>
    <p:sldId id="269" r:id="rId15"/>
    <p:sldId id="288" r:id="rId16"/>
    <p:sldId id="293" r:id="rId17"/>
    <p:sldId id="266" r:id="rId18"/>
    <p:sldId id="273" r:id="rId19"/>
    <p:sldId id="267" r:id="rId20"/>
    <p:sldId id="279" r:id="rId21"/>
    <p:sldId id="274" r:id="rId22"/>
    <p:sldId id="275" r:id="rId23"/>
    <p:sldId id="276" r:id="rId24"/>
    <p:sldId id="282" r:id="rId25"/>
    <p:sldId id="277" r:id="rId26"/>
    <p:sldId id="283" r:id="rId27"/>
    <p:sldId id="281" r:id="rId28"/>
    <p:sldId id="295" r:id="rId29"/>
    <p:sldId id="297" r:id="rId30"/>
    <p:sldId id="296" r:id="rId31"/>
    <p:sldId id="298" r:id="rId32"/>
    <p:sldId id="299" r:id="rId33"/>
    <p:sldId id="300" r:id="rId34"/>
    <p:sldId id="291" r:id="rId35"/>
    <p:sldId id="301" r:id="rId36"/>
    <p:sldId id="294" r:id="rId37"/>
    <p:sldId id="287"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1734" autoAdjust="0"/>
  </p:normalViewPr>
  <p:slideViewPr>
    <p:cSldViewPr snapToGrid="0">
      <p:cViewPr>
        <p:scale>
          <a:sx n="50" d="100"/>
          <a:sy n="50" d="100"/>
        </p:scale>
        <p:origin x="1500"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D18136-300B-4779-A4DC-C542495C3F58}" type="datetimeFigureOut">
              <a:rPr lang="en-GB" smtClean="0"/>
              <a:t>28/04/2026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347-D85B-4A0B-A40F-8D596202C111}" type="slidenum">
              <a:rPr lang="en-GB" smtClean="0"/>
              <a:t>‹#›</a:t>
            </a:fld>
            <a:endParaRPr lang="en-GB"/>
          </a:p>
        </p:txBody>
      </p:sp>
    </p:spTree>
    <p:extLst>
      <p:ext uri="{BB962C8B-B14F-4D97-AF65-F5344CB8AC3E}">
        <p14:creationId xmlns:p14="http://schemas.microsoft.com/office/powerpoint/2010/main" val="3741895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latin typeface="Times New Roman" panose="02020603050405020304" pitchFamily="18" charset="0"/>
                <a:cs typeface="Times New Roman" panose="02020603050405020304" pitchFamily="18" charset="0"/>
              </a:rPr>
              <a:t>The large number of employees between the highest paid and least paid might affect average salary</a:t>
            </a:r>
          </a:p>
          <a:p>
            <a:endParaRPr lang="en-GB" dirty="0"/>
          </a:p>
        </p:txBody>
      </p:sp>
      <p:sp>
        <p:nvSpPr>
          <p:cNvPr id="4" name="Slide Number Placeholder 3"/>
          <p:cNvSpPr>
            <a:spLocks noGrp="1"/>
          </p:cNvSpPr>
          <p:nvPr>
            <p:ph type="sldNum" sz="quarter" idx="10"/>
          </p:nvPr>
        </p:nvSpPr>
        <p:spPr/>
        <p:txBody>
          <a:bodyPr/>
          <a:lstStyle/>
          <a:p>
            <a:fld id="{63363347-D85B-4A0B-A40F-8D596202C111}" type="slidenum">
              <a:rPr lang="en-GB" smtClean="0"/>
              <a:t>10</a:t>
            </a:fld>
            <a:endParaRPr lang="en-GB"/>
          </a:p>
        </p:txBody>
      </p:sp>
    </p:spTree>
    <p:extLst>
      <p:ext uri="{BB962C8B-B14F-4D97-AF65-F5344CB8AC3E}">
        <p14:creationId xmlns:p14="http://schemas.microsoft.com/office/powerpoint/2010/main" val="1767295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 percentage of staff who have left the organisation in</a:t>
            </a:r>
            <a:r>
              <a:rPr lang="en-GB" baseline="0" dirty="0" smtClean="0"/>
              <a:t> the current dataset is 18.5%.  The F1 score will help us to measure (Quality )of all instances the model predicted as yes, how many were actually yes and quantity of all yes instances how many did the model successful find. </a:t>
            </a:r>
          </a:p>
          <a:p>
            <a:endParaRPr lang="en-GB" baseline="0" dirty="0" smtClean="0"/>
          </a:p>
          <a:p>
            <a:r>
              <a:rPr lang="en-GB" baseline="0" dirty="0" smtClean="0"/>
              <a:t>The ROC-(</a:t>
            </a:r>
            <a:r>
              <a:rPr lang="en-GB" dirty="0" smtClean="0"/>
              <a:t>Receiver Operating Characteristic) and</a:t>
            </a:r>
            <a:r>
              <a:rPr lang="en-GB" baseline="0" dirty="0" smtClean="0"/>
              <a:t> AUC – (</a:t>
            </a:r>
            <a:r>
              <a:rPr lang="en-GB" dirty="0" smtClean="0"/>
              <a:t>Area Under the Curve) - </a:t>
            </a:r>
            <a:r>
              <a:rPr lang="en-GB" sz="1200" b="0" i="0" kern="1200" dirty="0" smtClean="0">
                <a:solidFill>
                  <a:schemeClr val="tx1"/>
                </a:solidFill>
                <a:effectLst/>
                <a:latin typeface="+mn-lt"/>
                <a:ea typeface="+mn-ea"/>
                <a:cs typeface="+mn-cs"/>
              </a:rPr>
              <a:t>Probability that a random 'Yes' scores higher than a random</a:t>
            </a:r>
            <a:r>
              <a:rPr lang="en-GB" sz="1200" b="0" i="0" kern="1200" baseline="0" dirty="0" smtClean="0">
                <a:solidFill>
                  <a:schemeClr val="tx1"/>
                </a:solidFill>
                <a:effectLst/>
                <a:latin typeface="+mn-lt"/>
                <a:ea typeface="+mn-ea"/>
                <a:cs typeface="+mn-cs"/>
              </a:rPr>
              <a:t> </a:t>
            </a:r>
            <a:r>
              <a:rPr lang="en-GB" sz="1200" b="0" i="0" kern="1200" dirty="0" smtClean="0">
                <a:solidFill>
                  <a:schemeClr val="tx1"/>
                </a:solidFill>
                <a:effectLst/>
                <a:latin typeface="+mn-lt"/>
                <a:ea typeface="+mn-ea"/>
                <a:cs typeface="+mn-cs"/>
              </a:rPr>
              <a:t>'No'.</a:t>
            </a:r>
          </a:p>
          <a:p>
            <a:r>
              <a:rPr lang="en-GB" baseline="0" dirty="0" smtClean="0"/>
              <a:t> </a:t>
            </a:r>
            <a:endParaRPr lang="en-GB" dirty="0"/>
          </a:p>
        </p:txBody>
      </p:sp>
      <p:sp>
        <p:nvSpPr>
          <p:cNvPr id="4" name="Slide Number Placeholder 3"/>
          <p:cNvSpPr>
            <a:spLocks noGrp="1"/>
          </p:cNvSpPr>
          <p:nvPr>
            <p:ph type="sldNum" sz="quarter" idx="10"/>
          </p:nvPr>
        </p:nvSpPr>
        <p:spPr/>
        <p:txBody>
          <a:bodyPr/>
          <a:lstStyle/>
          <a:p>
            <a:fld id="{63363347-D85B-4A0B-A40F-8D596202C111}" type="slidenum">
              <a:rPr lang="en-GB" smtClean="0"/>
              <a:t>22</a:t>
            </a:fld>
            <a:endParaRPr lang="en-GB"/>
          </a:p>
        </p:txBody>
      </p:sp>
    </p:spTree>
    <p:extLst>
      <p:ext uri="{BB962C8B-B14F-4D97-AF65-F5344CB8AC3E}">
        <p14:creationId xmlns:p14="http://schemas.microsoft.com/office/powerpoint/2010/main" val="17722733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 NN model correctly</a:t>
            </a:r>
            <a:r>
              <a:rPr lang="en-GB" baseline="0" dirty="0" smtClean="0"/>
              <a:t> predicted 187 instances as True Positives and 26 instances</a:t>
            </a:r>
            <a:endParaRPr lang="en-GB" dirty="0"/>
          </a:p>
        </p:txBody>
      </p:sp>
      <p:sp>
        <p:nvSpPr>
          <p:cNvPr id="4" name="Slide Number Placeholder 3"/>
          <p:cNvSpPr>
            <a:spLocks noGrp="1"/>
          </p:cNvSpPr>
          <p:nvPr>
            <p:ph type="sldNum" sz="quarter" idx="10"/>
          </p:nvPr>
        </p:nvSpPr>
        <p:spPr/>
        <p:txBody>
          <a:bodyPr/>
          <a:lstStyle/>
          <a:p>
            <a:fld id="{63363347-D85B-4A0B-A40F-8D596202C111}" type="slidenum">
              <a:rPr lang="en-GB" smtClean="0"/>
              <a:t>24</a:t>
            </a:fld>
            <a:endParaRPr lang="en-GB"/>
          </a:p>
        </p:txBody>
      </p:sp>
    </p:spTree>
    <p:extLst>
      <p:ext uri="{BB962C8B-B14F-4D97-AF65-F5344CB8AC3E}">
        <p14:creationId xmlns:p14="http://schemas.microsoft.com/office/powerpoint/2010/main" val="3829114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smtClean="0"/>
              <a:t>The ROC-(</a:t>
            </a:r>
            <a:r>
              <a:rPr lang="en-GB" dirty="0" smtClean="0"/>
              <a:t>Receiver Operating Characteristic) and</a:t>
            </a:r>
            <a:r>
              <a:rPr lang="en-GB" baseline="0" dirty="0" smtClean="0"/>
              <a:t> AUC – (</a:t>
            </a:r>
            <a:r>
              <a:rPr lang="en-GB" dirty="0" smtClean="0"/>
              <a:t>Area Under the Curve) </a:t>
            </a:r>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0-0.45:</a:t>
            </a:r>
            <a:r>
              <a:rPr lang="en-GB" baseline="0" dirty="0" smtClean="0"/>
              <a:t> </a:t>
            </a:r>
            <a:r>
              <a:rPr lang="en-GB" dirty="0" smtClean="0"/>
              <a:t>the model does not predict any leavers</a:t>
            </a:r>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Steep</a:t>
            </a:r>
            <a:r>
              <a:rPr lang="en-GB" baseline="0" dirty="0" smtClean="0"/>
              <a:t> climb : 88% of the leavers are caught, 15% of those who stay are falsely flagged</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Near the elbow: 94% of those who leave are flagged, 25% false flags</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Flat: 97%, 60%</a:t>
            </a:r>
            <a:endParaRPr lang="en-GB" dirty="0" smtClean="0"/>
          </a:p>
          <a:p>
            <a:endParaRPr lang="en-GB" dirty="0"/>
          </a:p>
        </p:txBody>
      </p:sp>
      <p:sp>
        <p:nvSpPr>
          <p:cNvPr id="4" name="Slide Number Placeholder 3"/>
          <p:cNvSpPr>
            <a:spLocks noGrp="1"/>
          </p:cNvSpPr>
          <p:nvPr>
            <p:ph type="sldNum" sz="quarter" idx="10"/>
          </p:nvPr>
        </p:nvSpPr>
        <p:spPr/>
        <p:txBody>
          <a:bodyPr/>
          <a:lstStyle/>
          <a:p>
            <a:fld id="{63363347-D85B-4A0B-A40F-8D596202C111}" type="slidenum">
              <a:rPr lang="en-GB" smtClean="0"/>
              <a:t>25</a:t>
            </a:fld>
            <a:endParaRPr lang="en-GB"/>
          </a:p>
        </p:txBody>
      </p:sp>
    </p:spTree>
    <p:extLst>
      <p:ext uri="{BB962C8B-B14F-4D97-AF65-F5344CB8AC3E}">
        <p14:creationId xmlns:p14="http://schemas.microsoft.com/office/powerpoint/2010/main" val="39704377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Both models significantly outperform</a:t>
            </a:r>
            <a:r>
              <a:rPr lang="en-GB" baseline="0" dirty="0" smtClean="0"/>
              <a:t> random chance – the red line</a:t>
            </a:r>
            <a:endParaRPr lang="en-GB" dirty="0"/>
          </a:p>
        </p:txBody>
      </p:sp>
      <p:sp>
        <p:nvSpPr>
          <p:cNvPr id="4" name="Slide Number Placeholder 3"/>
          <p:cNvSpPr>
            <a:spLocks noGrp="1"/>
          </p:cNvSpPr>
          <p:nvPr>
            <p:ph type="sldNum" sz="quarter" idx="10"/>
          </p:nvPr>
        </p:nvSpPr>
        <p:spPr/>
        <p:txBody>
          <a:bodyPr/>
          <a:lstStyle/>
          <a:p>
            <a:fld id="{63363347-D85B-4A0B-A40F-8D596202C111}" type="slidenum">
              <a:rPr lang="en-GB" smtClean="0"/>
              <a:t>26</a:t>
            </a:fld>
            <a:endParaRPr lang="en-GB"/>
          </a:p>
        </p:txBody>
      </p:sp>
    </p:spTree>
    <p:extLst>
      <p:ext uri="{BB962C8B-B14F-4D97-AF65-F5344CB8AC3E}">
        <p14:creationId xmlns:p14="http://schemas.microsoft.com/office/powerpoint/2010/main" val="21782234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a:t>
            </a:r>
            <a:r>
              <a:rPr lang="en-GB" baseline="0" dirty="0" smtClean="0"/>
              <a:t> graph shows how precision and recall shifts as the model predicts that an employee will leave. </a:t>
            </a:r>
          </a:p>
          <a:p>
            <a:pPr marL="171450" indent="-171450">
              <a:buFontTx/>
              <a:buChar char="-"/>
            </a:pPr>
            <a:r>
              <a:rPr lang="en-GB" baseline="0" dirty="0" smtClean="0"/>
              <a:t>At low threshold, the model predicts many False Positives </a:t>
            </a:r>
          </a:p>
          <a:p>
            <a:pPr marL="171450" indent="-171450">
              <a:buFontTx/>
              <a:buChar char="-"/>
            </a:pPr>
            <a:r>
              <a:rPr lang="en-GB" baseline="0" dirty="0" smtClean="0"/>
              <a:t>Many False negatives after 0.5</a:t>
            </a:r>
          </a:p>
          <a:p>
            <a:pPr marL="171450" indent="-171450">
              <a:buFontTx/>
              <a:buChar char="-"/>
            </a:pPr>
            <a:r>
              <a:rPr lang="en-GB" baseline="0" dirty="0" smtClean="0"/>
              <a:t>Good loss curve</a:t>
            </a:r>
            <a:endParaRPr lang="en-GB" dirty="0"/>
          </a:p>
        </p:txBody>
      </p:sp>
      <p:sp>
        <p:nvSpPr>
          <p:cNvPr id="4" name="Slide Number Placeholder 3"/>
          <p:cNvSpPr>
            <a:spLocks noGrp="1"/>
          </p:cNvSpPr>
          <p:nvPr>
            <p:ph type="sldNum" sz="quarter" idx="10"/>
          </p:nvPr>
        </p:nvSpPr>
        <p:spPr/>
        <p:txBody>
          <a:bodyPr/>
          <a:lstStyle/>
          <a:p>
            <a:fld id="{63363347-D85B-4A0B-A40F-8D596202C111}" type="slidenum">
              <a:rPr lang="en-GB" smtClean="0"/>
              <a:t>27</a:t>
            </a:fld>
            <a:endParaRPr lang="en-GB" dirty="0"/>
          </a:p>
        </p:txBody>
      </p:sp>
    </p:spTree>
    <p:extLst>
      <p:ext uri="{BB962C8B-B14F-4D97-AF65-F5344CB8AC3E}">
        <p14:creationId xmlns:p14="http://schemas.microsoft.com/office/powerpoint/2010/main" val="21202076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Features: 'ID', 'Attrition', 'Gender ', 'Age', ' </a:t>
            </a:r>
            <a:r>
              <a:rPr lang="en-GB" dirty="0" err="1" smtClean="0"/>
              <a:t>Maritalstatus</a:t>
            </a:r>
            <a:r>
              <a:rPr lang="en-GB" dirty="0" smtClean="0"/>
              <a:t>', ' </a:t>
            </a:r>
            <a:r>
              <a:rPr lang="en-GB" dirty="0" err="1" smtClean="0"/>
              <a:t>Academic_degree</a:t>
            </a:r>
            <a:r>
              <a:rPr lang="en-GB" dirty="0" smtClean="0"/>
              <a:t> ', '</a:t>
            </a:r>
            <a:r>
              <a:rPr lang="en-GB" dirty="0" err="1" smtClean="0"/>
              <a:t>Years_Experience</a:t>
            </a:r>
            <a:r>
              <a:rPr lang="en-GB" dirty="0" smtClean="0"/>
              <a:t>', '</a:t>
            </a:r>
            <a:r>
              <a:rPr lang="en-GB" dirty="0" err="1" smtClean="0"/>
              <a:t>Years_experience_lastorganization</a:t>
            </a:r>
            <a:r>
              <a:rPr lang="en-GB" dirty="0" smtClean="0"/>
              <a:t>', 'Sector', 'Department', '</a:t>
            </a:r>
            <a:r>
              <a:rPr lang="en-GB" dirty="0" err="1" smtClean="0"/>
              <a:t>JobTitle</a:t>
            </a:r>
            <a:r>
              <a:rPr lang="en-GB" dirty="0" smtClean="0"/>
              <a:t>', '</a:t>
            </a:r>
            <a:r>
              <a:rPr lang="en-GB" dirty="0" err="1" smtClean="0"/>
              <a:t>MonthlySalary</a:t>
            </a:r>
            <a:r>
              <a:rPr lang="en-GB" dirty="0" smtClean="0"/>
              <a:t>', 'Allowances', '</a:t>
            </a:r>
            <a:r>
              <a:rPr lang="en-GB" dirty="0" err="1" smtClean="0"/>
              <a:t>MedicalInsurance</a:t>
            </a:r>
            <a:r>
              <a:rPr lang="en-GB" dirty="0" smtClean="0"/>
              <a:t>', 'Bonus', '</a:t>
            </a:r>
            <a:r>
              <a:rPr lang="en-GB" dirty="0" err="1" smtClean="0"/>
              <a:t>OverTime</a:t>
            </a:r>
            <a:r>
              <a:rPr lang="en-GB" dirty="0" smtClean="0"/>
              <a:t>', '</a:t>
            </a:r>
            <a:r>
              <a:rPr lang="en-GB" dirty="0" err="1" smtClean="0"/>
              <a:t>Payment_Overtime</a:t>
            </a:r>
            <a:r>
              <a:rPr lang="en-GB" dirty="0" smtClean="0"/>
              <a:t>', '</a:t>
            </a:r>
            <a:r>
              <a:rPr lang="en-GB" dirty="0" err="1" smtClean="0"/>
              <a:t>Rewards&amp;Wages_Satisfaction</a:t>
            </a:r>
            <a:r>
              <a:rPr lang="en-GB" dirty="0" smtClean="0"/>
              <a:t>', 'Get_ </a:t>
            </a:r>
            <a:r>
              <a:rPr lang="en-GB" dirty="0" err="1" smtClean="0"/>
              <a:t>Deserved_Promotion</a:t>
            </a:r>
            <a:r>
              <a:rPr lang="en-GB" dirty="0" smtClean="0"/>
              <a:t>', '</a:t>
            </a:r>
            <a:r>
              <a:rPr lang="en-GB" dirty="0" err="1" smtClean="0"/>
              <a:t>Training_programs</a:t>
            </a:r>
            <a:r>
              <a:rPr lang="en-GB" dirty="0" smtClean="0"/>
              <a:t>_ </a:t>
            </a:r>
            <a:r>
              <a:rPr lang="en-GB" dirty="0" err="1" smtClean="0"/>
              <a:t>During_last_three_years</a:t>
            </a:r>
            <a:r>
              <a:rPr lang="en-GB" dirty="0" smtClean="0"/>
              <a:t>', '</a:t>
            </a:r>
            <a:r>
              <a:rPr lang="en-GB" dirty="0" err="1" smtClean="0"/>
              <a:t>Useful_Training_Programs</a:t>
            </a:r>
            <a:r>
              <a:rPr lang="en-GB" dirty="0" smtClean="0"/>
              <a:t>', '</a:t>
            </a:r>
            <a:r>
              <a:rPr lang="en-GB" dirty="0" err="1" smtClean="0"/>
              <a:t>Business_Travel</a:t>
            </a:r>
            <a:r>
              <a:rPr lang="en-GB" dirty="0" smtClean="0"/>
              <a:t>', '</a:t>
            </a:r>
            <a:r>
              <a:rPr lang="en-GB" dirty="0" err="1" smtClean="0"/>
              <a:t>Job_Support</a:t>
            </a:r>
            <a:r>
              <a:rPr lang="en-GB" dirty="0" smtClean="0"/>
              <a:t>', 'Recognition', '</a:t>
            </a:r>
            <a:r>
              <a:rPr lang="en-GB" dirty="0" err="1" smtClean="0"/>
              <a:t>Emotional_Commitment</a:t>
            </a:r>
            <a:r>
              <a:rPr lang="en-GB" dirty="0" smtClean="0"/>
              <a:t>', '</a:t>
            </a:r>
            <a:r>
              <a:rPr lang="en-GB" dirty="0" err="1" smtClean="0"/>
              <a:t>Job_Engagement</a:t>
            </a:r>
            <a:r>
              <a:rPr lang="en-GB" dirty="0" smtClean="0"/>
              <a:t>', '</a:t>
            </a:r>
            <a:r>
              <a:rPr lang="en-GB" dirty="0" err="1" smtClean="0"/>
              <a:t>Distance_to_work</a:t>
            </a:r>
            <a:r>
              <a:rPr lang="en-GB" dirty="0" smtClean="0"/>
              <a:t>', '</a:t>
            </a:r>
            <a:r>
              <a:rPr lang="en-GB" dirty="0" err="1" smtClean="0"/>
              <a:t>Work_Live_Balance</a:t>
            </a:r>
            <a:r>
              <a:rPr lang="en-GB" dirty="0" smtClean="0"/>
              <a:t>', '</a:t>
            </a:r>
            <a:r>
              <a:rPr lang="en-GB" dirty="0" err="1" smtClean="0"/>
              <a:t>Physical_Stress</a:t>
            </a:r>
            <a:r>
              <a:rPr lang="en-GB" dirty="0" smtClean="0"/>
              <a:t>', '</a:t>
            </a:r>
            <a:r>
              <a:rPr lang="en-GB" dirty="0" err="1" smtClean="0"/>
              <a:t>Psychological_Exhaustion</a:t>
            </a:r>
            <a:r>
              <a:rPr lang="en-GB" dirty="0" smtClean="0"/>
              <a:t>', '</a:t>
            </a:r>
            <a:r>
              <a:rPr lang="en-GB" dirty="0" err="1" smtClean="0"/>
              <a:t>Job_Stability</a:t>
            </a:r>
            <a:r>
              <a:rPr lang="en-GB" dirty="0" smtClean="0"/>
              <a:t>', '</a:t>
            </a:r>
            <a:r>
              <a:rPr lang="en-GB" dirty="0" err="1" smtClean="0"/>
              <a:t>Health_Issues</a:t>
            </a:r>
            <a:r>
              <a:rPr lang="en-GB" dirty="0" smtClean="0"/>
              <a:t>', '</a:t>
            </a:r>
            <a:r>
              <a:rPr lang="en-GB" dirty="0" err="1" smtClean="0"/>
              <a:t>Environment_Satisfaction</a:t>
            </a:r>
            <a:r>
              <a:rPr lang="en-GB" dirty="0" smtClean="0"/>
              <a:t>', '</a:t>
            </a:r>
            <a:r>
              <a:rPr lang="en-GB" dirty="0" err="1" smtClean="0"/>
              <a:t>Job_Satisfaction</a:t>
            </a:r>
            <a:r>
              <a:rPr lang="en-GB" dirty="0" smtClean="0"/>
              <a:t>', '</a:t>
            </a:r>
            <a:r>
              <a:rPr lang="en-GB" dirty="0" err="1" smtClean="0"/>
              <a:t>Job_Opportunities</a:t>
            </a:r>
            <a:r>
              <a:rPr lang="en-GB" dirty="0" smtClean="0"/>
              <a:t>'</a:t>
            </a:r>
            <a:endParaRPr lang="en-GB" dirty="0"/>
          </a:p>
        </p:txBody>
      </p:sp>
      <p:sp>
        <p:nvSpPr>
          <p:cNvPr id="4" name="Slide Number Placeholder 3"/>
          <p:cNvSpPr>
            <a:spLocks noGrp="1"/>
          </p:cNvSpPr>
          <p:nvPr>
            <p:ph type="sldNum" sz="quarter" idx="10"/>
          </p:nvPr>
        </p:nvSpPr>
        <p:spPr/>
        <p:txBody>
          <a:bodyPr/>
          <a:lstStyle/>
          <a:p>
            <a:fld id="{63363347-D85B-4A0B-A40F-8D596202C111}" type="slidenum">
              <a:rPr lang="en-GB" smtClean="0"/>
              <a:t>28</a:t>
            </a:fld>
            <a:endParaRPr lang="en-GB"/>
          </a:p>
        </p:txBody>
      </p:sp>
    </p:spTree>
    <p:extLst>
      <p:ext uri="{BB962C8B-B14F-4D97-AF65-F5344CB8AC3E}">
        <p14:creationId xmlns:p14="http://schemas.microsoft.com/office/powerpoint/2010/main" val="41456471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How well the model is learning overtime</a:t>
            </a:r>
            <a:endParaRPr lang="en-GB" dirty="0"/>
          </a:p>
        </p:txBody>
      </p:sp>
      <p:sp>
        <p:nvSpPr>
          <p:cNvPr id="4" name="Slide Number Placeholder 3"/>
          <p:cNvSpPr>
            <a:spLocks noGrp="1"/>
          </p:cNvSpPr>
          <p:nvPr>
            <p:ph type="sldNum" sz="quarter" idx="10"/>
          </p:nvPr>
        </p:nvSpPr>
        <p:spPr/>
        <p:txBody>
          <a:bodyPr/>
          <a:lstStyle/>
          <a:p>
            <a:fld id="{63363347-D85B-4A0B-A40F-8D596202C111}" type="slidenum">
              <a:rPr lang="en-GB" smtClean="0"/>
              <a:t>33</a:t>
            </a:fld>
            <a:endParaRPr lang="en-GB"/>
          </a:p>
        </p:txBody>
      </p:sp>
    </p:spTree>
    <p:extLst>
      <p:ext uri="{BB962C8B-B14F-4D97-AF65-F5344CB8AC3E}">
        <p14:creationId xmlns:p14="http://schemas.microsoft.com/office/powerpoint/2010/main" val="29332768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3363347-D85B-4A0B-A40F-8D596202C111}" type="slidenum">
              <a:rPr lang="en-GB" smtClean="0"/>
              <a:t>36</a:t>
            </a:fld>
            <a:endParaRPr lang="en-GB"/>
          </a:p>
        </p:txBody>
      </p:sp>
    </p:spTree>
    <p:extLst>
      <p:ext uri="{BB962C8B-B14F-4D97-AF65-F5344CB8AC3E}">
        <p14:creationId xmlns:p14="http://schemas.microsoft.com/office/powerpoint/2010/main" val="177466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01F721B2-F283-4269-A774-3A16161286AC}" type="datetimeFigureOut">
              <a:rPr lang="en-GB" smtClean="0"/>
              <a:t>22/04/2026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4B5FC92-E07D-4E35-B757-A83B3651E5F9}" type="slidenum">
              <a:rPr lang="en-GB" smtClean="0"/>
              <a:t>‹#›</a:t>
            </a:fld>
            <a:endParaRPr lang="en-GB"/>
          </a:p>
        </p:txBody>
      </p:sp>
    </p:spTree>
    <p:extLst>
      <p:ext uri="{BB962C8B-B14F-4D97-AF65-F5344CB8AC3E}">
        <p14:creationId xmlns:p14="http://schemas.microsoft.com/office/powerpoint/2010/main" val="2477432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1F721B2-F283-4269-A774-3A16161286AC}" type="datetimeFigureOut">
              <a:rPr lang="en-GB" smtClean="0"/>
              <a:t>22/04/2026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4B5FC92-E07D-4E35-B757-A83B3651E5F9}" type="slidenum">
              <a:rPr lang="en-GB" smtClean="0"/>
              <a:t>‹#›</a:t>
            </a:fld>
            <a:endParaRPr lang="en-GB"/>
          </a:p>
        </p:txBody>
      </p:sp>
    </p:spTree>
    <p:extLst>
      <p:ext uri="{BB962C8B-B14F-4D97-AF65-F5344CB8AC3E}">
        <p14:creationId xmlns:p14="http://schemas.microsoft.com/office/powerpoint/2010/main" val="202435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1F721B2-F283-4269-A774-3A16161286AC}" type="datetimeFigureOut">
              <a:rPr lang="en-GB" smtClean="0"/>
              <a:t>22/04/2026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4B5FC92-E07D-4E35-B757-A83B3651E5F9}" type="slidenum">
              <a:rPr lang="en-GB" smtClean="0"/>
              <a:t>‹#›</a:t>
            </a:fld>
            <a:endParaRPr lang="en-GB"/>
          </a:p>
        </p:txBody>
      </p:sp>
    </p:spTree>
    <p:extLst>
      <p:ext uri="{BB962C8B-B14F-4D97-AF65-F5344CB8AC3E}">
        <p14:creationId xmlns:p14="http://schemas.microsoft.com/office/powerpoint/2010/main" val="345792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01F721B2-F283-4269-A774-3A16161286AC}" type="datetimeFigureOut">
              <a:rPr lang="en-GB" smtClean="0"/>
              <a:t>22/04/2026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4B5FC92-E07D-4E35-B757-A83B3651E5F9}" type="slidenum">
              <a:rPr lang="en-GB" smtClean="0"/>
              <a:t>‹#›</a:t>
            </a:fld>
            <a:endParaRPr lang="en-GB"/>
          </a:p>
        </p:txBody>
      </p:sp>
    </p:spTree>
    <p:extLst>
      <p:ext uri="{BB962C8B-B14F-4D97-AF65-F5344CB8AC3E}">
        <p14:creationId xmlns:p14="http://schemas.microsoft.com/office/powerpoint/2010/main" val="211712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01F721B2-F283-4269-A774-3A16161286AC}" type="datetimeFigureOut">
              <a:rPr lang="en-GB" smtClean="0"/>
              <a:t>22/04/2026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4B5FC92-E07D-4E35-B757-A83B3651E5F9}" type="slidenum">
              <a:rPr lang="en-GB" smtClean="0"/>
              <a:t>‹#›</a:t>
            </a:fld>
            <a:endParaRPr lang="en-GB"/>
          </a:p>
        </p:txBody>
      </p:sp>
    </p:spTree>
    <p:extLst>
      <p:ext uri="{BB962C8B-B14F-4D97-AF65-F5344CB8AC3E}">
        <p14:creationId xmlns:p14="http://schemas.microsoft.com/office/powerpoint/2010/main" val="148104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01F721B2-F283-4269-A774-3A16161286AC}" type="datetimeFigureOut">
              <a:rPr lang="en-GB" smtClean="0"/>
              <a:t>22/04/2026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4B5FC92-E07D-4E35-B757-A83B3651E5F9}" type="slidenum">
              <a:rPr lang="en-GB" smtClean="0"/>
              <a:t>‹#›</a:t>
            </a:fld>
            <a:endParaRPr lang="en-GB"/>
          </a:p>
        </p:txBody>
      </p:sp>
    </p:spTree>
    <p:extLst>
      <p:ext uri="{BB962C8B-B14F-4D97-AF65-F5344CB8AC3E}">
        <p14:creationId xmlns:p14="http://schemas.microsoft.com/office/powerpoint/2010/main" val="3995785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F721B2-F283-4269-A774-3A16161286AC}" type="datetimeFigureOut">
              <a:rPr lang="en-GB" smtClean="0"/>
              <a:t>22/04/2026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4B5FC92-E07D-4E35-B757-A83B3651E5F9}" type="slidenum">
              <a:rPr lang="en-GB" smtClean="0"/>
              <a:t>‹#›</a:t>
            </a:fld>
            <a:endParaRPr lang="en-GB"/>
          </a:p>
        </p:txBody>
      </p:sp>
    </p:spTree>
    <p:extLst>
      <p:ext uri="{BB962C8B-B14F-4D97-AF65-F5344CB8AC3E}">
        <p14:creationId xmlns:p14="http://schemas.microsoft.com/office/powerpoint/2010/main" val="2119662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1F721B2-F283-4269-A774-3A16161286AC}" type="datetimeFigureOut">
              <a:rPr lang="en-GB" smtClean="0"/>
              <a:t>22/04/2026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4B5FC92-E07D-4E35-B757-A83B3651E5F9}" type="slidenum">
              <a:rPr lang="en-GB" smtClean="0"/>
              <a:t>‹#›</a:t>
            </a:fld>
            <a:endParaRPr lang="en-GB"/>
          </a:p>
        </p:txBody>
      </p:sp>
    </p:spTree>
    <p:extLst>
      <p:ext uri="{BB962C8B-B14F-4D97-AF65-F5344CB8AC3E}">
        <p14:creationId xmlns:p14="http://schemas.microsoft.com/office/powerpoint/2010/main" val="89795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1F721B2-F283-4269-A774-3A16161286AC}" type="datetimeFigureOut">
              <a:rPr lang="en-GB" smtClean="0"/>
              <a:t>22/04/2026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4B5FC92-E07D-4E35-B757-A83B3651E5F9}" type="slidenum">
              <a:rPr lang="en-GB" smtClean="0"/>
              <a:t>‹#›</a:t>
            </a:fld>
            <a:endParaRPr lang="en-GB"/>
          </a:p>
        </p:txBody>
      </p:sp>
    </p:spTree>
    <p:extLst>
      <p:ext uri="{BB962C8B-B14F-4D97-AF65-F5344CB8AC3E}">
        <p14:creationId xmlns:p14="http://schemas.microsoft.com/office/powerpoint/2010/main" val="3069930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1F721B2-F283-4269-A774-3A16161286AC}" type="datetimeFigureOut">
              <a:rPr lang="en-GB" smtClean="0"/>
              <a:t>22/04/2026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4B5FC92-E07D-4E35-B757-A83B3651E5F9}" type="slidenum">
              <a:rPr lang="en-GB" smtClean="0"/>
              <a:t>‹#›</a:t>
            </a:fld>
            <a:endParaRPr lang="en-GB"/>
          </a:p>
        </p:txBody>
      </p:sp>
    </p:spTree>
    <p:extLst>
      <p:ext uri="{BB962C8B-B14F-4D97-AF65-F5344CB8AC3E}">
        <p14:creationId xmlns:p14="http://schemas.microsoft.com/office/powerpoint/2010/main" val="3592582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1F721B2-F283-4269-A774-3A16161286AC}" type="datetimeFigureOut">
              <a:rPr lang="en-GB" smtClean="0"/>
              <a:t>22/04/2026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4B5FC92-E07D-4E35-B757-A83B3651E5F9}" type="slidenum">
              <a:rPr lang="en-GB" smtClean="0"/>
              <a:t>‹#›</a:t>
            </a:fld>
            <a:endParaRPr lang="en-GB"/>
          </a:p>
        </p:txBody>
      </p:sp>
    </p:spTree>
    <p:extLst>
      <p:ext uri="{BB962C8B-B14F-4D97-AF65-F5344CB8AC3E}">
        <p14:creationId xmlns:p14="http://schemas.microsoft.com/office/powerpoint/2010/main" val="1505274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F721B2-F283-4269-A774-3A16161286AC}" type="datetimeFigureOut">
              <a:rPr lang="en-GB" smtClean="0"/>
              <a:t>22/04/2026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B5FC92-E07D-4E35-B757-A83B3651E5F9}" type="slidenum">
              <a:rPr lang="en-GB" smtClean="0"/>
              <a:t>‹#›</a:t>
            </a:fld>
            <a:endParaRPr lang="en-GB"/>
          </a:p>
        </p:txBody>
      </p:sp>
    </p:spTree>
    <p:extLst>
      <p:ext uri="{BB962C8B-B14F-4D97-AF65-F5344CB8AC3E}">
        <p14:creationId xmlns:p14="http://schemas.microsoft.com/office/powerpoint/2010/main" val="888151926"/>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pp.datacamp.com/learn/courses/case-study-hr-analytics-in-tableau"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data.mendeley.com/datasets/6z2hty8php/1/files/b422d0af-74b6-47b8-94ff-614e09c2382f"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2" Type="http://schemas.openxmlformats.org/officeDocument/2006/relationships/hyperlink" Target="https://dc379117c7a6e47f94.gradio.live/"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app.datacamp.com/learn/courses/case-study-hr-analytics-in-tableau"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s://github.com/pheebnabun-art/Final-project_Data-Science-and-Machine-Learning-course" TargetMode="External"/><Relationship Id="rId4" Type="http://schemas.openxmlformats.org/officeDocument/2006/relationships/hyperlink" Target="https://data.mendeley.com/datasets/6z2hty8php/1/files/b422d0af-74b6-47b8-94ff-614e09c2382f"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81743" y="832757"/>
            <a:ext cx="10123714" cy="3539430"/>
          </a:xfrm>
          <a:prstGeom prst="rect">
            <a:avLst/>
          </a:prstGeom>
          <a:noFill/>
        </p:spPr>
        <p:txBody>
          <a:bodyPr wrap="square" rtlCol="0">
            <a:spAutoFit/>
          </a:bodyPr>
          <a:lstStyle/>
          <a:p>
            <a:pPr algn="ctr"/>
            <a:r>
              <a:rPr lang="en-GB" sz="4800" dirty="0" smtClean="0">
                <a:solidFill>
                  <a:srgbClr val="0070C0"/>
                </a:solidFill>
              </a:rPr>
              <a:t>FINAL PROJECT </a:t>
            </a:r>
          </a:p>
          <a:p>
            <a:pPr algn="ctr"/>
            <a:endParaRPr lang="en-GB" sz="4800" dirty="0">
              <a:solidFill>
                <a:srgbClr val="0070C0"/>
              </a:solidFill>
            </a:endParaRPr>
          </a:p>
          <a:p>
            <a:pPr algn="ctr"/>
            <a:r>
              <a:rPr lang="en-GB" sz="4800" dirty="0" smtClean="0">
                <a:solidFill>
                  <a:srgbClr val="0070C0"/>
                </a:solidFill>
              </a:rPr>
              <a:t>EMPLOYEE ATTRITION</a:t>
            </a:r>
          </a:p>
          <a:p>
            <a:pPr algn="ctr"/>
            <a:endParaRPr lang="en-GB" sz="4800" dirty="0">
              <a:solidFill>
                <a:srgbClr val="0070C0"/>
              </a:solidFill>
            </a:endParaRPr>
          </a:p>
          <a:p>
            <a:pPr algn="ctr"/>
            <a:r>
              <a:rPr lang="en-GB" sz="3200" dirty="0" smtClean="0">
                <a:solidFill>
                  <a:srgbClr val="0070C0"/>
                </a:solidFill>
              </a:rPr>
              <a:t>BY PHOEBE NABUNYA </a:t>
            </a:r>
            <a:endParaRPr lang="en-GB" sz="3200" dirty="0">
              <a:solidFill>
                <a:srgbClr val="0070C0"/>
              </a:solidFill>
            </a:endParaRPr>
          </a:p>
        </p:txBody>
      </p:sp>
    </p:spTree>
    <p:extLst>
      <p:ext uri="{BB962C8B-B14F-4D97-AF65-F5344CB8AC3E}">
        <p14:creationId xmlns:p14="http://schemas.microsoft.com/office/powerpoint/2010/main" val="21768421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2853" y="100082"/>
            <a:ext cx="10515600" cy="893831"/>
          </a:xfrm>
        </p:spPr>
        <p:txBody>
          <a:bodyPr>
            <a:normAutofit/>
          </a:bodyPr>
          <a:lstStyle/>
          <a:p>
            <a:r>
              <a:rPr lang="en-GB" sz="4000" b="1" dirty="0">
                <a:latin typeface="Times New Roman" panose="02020603050405020304" pitchFamily="18" charset="0"/>
                <a:cs typeface="Times New Roman" panose="02020603050405020304" pitchFamily="18" charset="0"/>
              </a:rPr>
              <a:t>Machine Learning Goal</a:t>
            </a:r>
          </a:p>
        </p:txBody>
      </p:sp>
      <p:sp>
        <p:nvSpPr>
          <p:cNvPr id="3" name="Content Placeholder 2"/>
          <p:cNvSpPr>
            <a:spLocks noGrp="1"/>
          </p:cNvSpPr>
          <p:nvPr>
            <p:ph idx="1"/>
          </p:nvPr>
        </p:nvSpPr>
        <p:spPr>
          <a:xfrm>
            <a:off x="291548" y="993913"/>
            <a:ext cx="11635409" cy="5539409"/>
          </a:xfrm>
        </p:spPr>
        <p:txBody>
          <a:bodyPr>
            <a:normAutofit fontScale="92500" lnSpcReduction="20000"/>
          </a:bodyPr>
          <a:lstStyle/>
          <a:p>
            <a:pPr marL="0" indent="0">
              <a:buNone/>
            </a:pPr>
            <a:endParaRPr lang="en-GB" sz="3500" b="1" u="sng" dirty="0" smtClean="0">
              <a:latin typeface="Times New Roman" panose="02020603050405020304" pitchFamily="18" charset="0"/>
              <a:cs typeface="Times New Roman" panose="02020603050405020304" pitchFamily="18" charset="0"/>
            </a:endParaRPr>
          </a:p>
          <a:p>
            <a:pPr marL="0" indent="0">
              <a:buNone/>
            </a:pPr>
            <a:r>
              <a:rPr lang="en-GB" sz="3500" b="1" u="sng" dirty="0" smtClean="0">
                <a:latin typeface="Times New Roman" panose="02020603050405020304" pitchFamily="18" charset="0"/>
                <a:cs typeface="Times New Roman" panose="02020603050405020304" pitchFamily="18" charset="0"/>
              </a:rPr>
              <a:t>Machine </a:t>
            </a:r>
            <a:r>
              <a:rPr lang="en-GB" sz="3500" b="1" u="sng" dirty="0">
                <a:latin typeface="Times New Roman" panose="02020603050405020304" pitchFamily="18" charset="0"/>
                <a:cs typeface="Times New Roman" panose="02020603050405020304" pitchFamily="18" charset="0"/>
              </a:rPr>
              <a:t>Learning Goal for the dataset</a:t>
            </a:r>
          </a:p>
          <a:p>
            <a:r>
              <a:rPr lang="en-GB" sz="3500" dirty="0" smtClean="0">
                <a:latin typeface="Times New Roman" panose="02020603050405020304" pitchFamily="18" charset="0"/>
                <a:cs typeface="Times New Roman" panose="02020603050405020304" pitchFamily="18" charset="0"/>
              </a:rPr>
              <a:t>To predict </a:t>
            </a:r>
            <a:r>
              <a:rPr lang="en-GB" sz="3500" dirty="0">
                <a:latin typeface="Times New Roman" panose="02020603050405020304" pitchFamily="18" charset="0"/>
                <a:cs typeface="Times New Roman" panose="02020603050405020304" pitchFamily="18" charset="0"/>
              </a:rPr>
              <a:t>the likelihood that an employee is at risk of leaving the company to enable the implementation of proactive retention strategies. </a:t>
            </a:r>
            <a:endParaRPr lang="en-GB" sz="3500" dirty="0" smtClean="0">
              <a:latin typeface="Times New Roman" panose="02020603050405020304" pitchFamily="18" charset="0"/>
              <a:cs typeface="Times New Roman" panose="02020603050405020304" pitchFamily="18" charset="0"/>
            </a:endParaRPr>
          </a:p>
          <a:p>
            <a:endParaRPr lang="en-GB" sz="3500" dirty="0">
              <a:latin typeface="Times New Roman" panose="02020603050405020304" pitchFamily="18" charset="0"/>
              <a:cs typeface="Times New Roman" panose="02020603050405020304" pitchFamily="18" charset="0"/>
            </a:endParaRPr>
          </a:p>
          <a:p>
            <a:pPr marL="0" indent="0">
              <a:buNone/>
            </a:pPr>
            <a:r>
              <a:rPr lang="en-GB" sz="3500" b="1" u="sng" dirty="0" smtClean="0">
                <a:latin typeface="Times New Roman" panose="02020603050405020304" pitchFamily="18" charset="0"/>
                <a:cs typeface="Times New Roman" panose="02020603050405020304" pitchFamily="18" charset="0"/>
              </a:rPr>
              <a:t>Background</a:t>
            </a:r>
          </a:p>
          <a:p>
            <a:r>
              <a:rPr lang="en-GB" sz="3500" dirty="0" smtClean="0">
                <a:latin typeface="Times New Roman" panose="02020603050405020304" pitchFamily="18" charset="0"/>
                <a:cs typeface="Times New Roman" panose="02020603050405020304" pitchFamily="18" charset="0"/>
              </a:rPr>
              <a:t>The provided data is the HR information of a company including the Employee Information and Performance rating</a:t>
            </a:r>
          </a:p>
          <a:p>
            <a:r>
              <a:rPr lang="en-GB" sz="3500" dirty="0" smtClean="0">
                <a:latin typeface="Times New Roman" panose="02020603050405020304" pitchFamily="18" charset="0"/>
                <a:cs typeface="Times New Roman" panose="02020603050405020304" pitchFamily="18" charset="0"/>
              </a:rPr>
              <a:t>16.1% is the attrition rate, </a:t>
            </a:r>
            <a:r>
              <a:rPr lang="en-GB" sz="3500" dirty="0" smtClean="0">
                <a:latin typeface="Times New Roman" panose="02020603050405020304" pitchFamily="18" charset="0"/>
                <a:cs typeface="Times New Roman" panose="02020603050405020304" pitchFamily="18" charset="0"/>
              </a:rPr>
              <a:t>1470 total </a:t>
            </a:r>
            <a:r>
              <a:rPr lang="en-GB" sz="3500" dirty="0" smtClean="0">
                <a:latin typeface="Times New Roman" panose="02020603050405020304" pitchFamily="18" charset="0"/>
                <a:cs typeface="Times New Roman" panose="02020603050405020304" pitchFamily="18" charset="0"/>
              </a:rPr>
              <a:t>employees </a:t>
            </a:r>
            <a:endParaRPr lang="en-GB" sz="3500" dirty="0">
              <a:latin typeface="Times New Roman" panose="02020603050405020304" pitchFamily="18" charset="0"/>
              <a:cs typeface="Times New Roman" panose="02020603050405020304" pitchFamily="18" charset="0"/>
            </a:endParaRPr>
          </a:p>
          <a:p>
            <a:endParaRPr lang="en-GB" sz="3500" dirty="0" smtClean="0">
              <a:latin typeface="Times New Roman" panose="02020603050405020304" pitchFamily="18" charset="0"/>
              <a:cs typeface="Times New Roman" panose="02020603050405020304" pitchFamily="18" charset="0"/>
            </a:endParaRPr>
          </a:p>
          <a:p>
            <a:pPr marL="0" indent="0">
              <a:buNone/>
            </a:pPr>
            <a:r>
              <a:rPr lang="en-GB" sz="3500" dirty="0" smtClean="0">
                <a:latin typeface="Times New Roman" panose="02020603050405020304" pitchFamily="18" charset="0"/>
                <a:cs typeface="Times New Roman" panose="02020603050405020304" pitchFamily="18" charset="0"/>
              </a:rPr>
              <a:t> </a:t>
            </a:r>
            <a:endParaRPr lang="en-GB" sz="3500" dirty="0" smtClean="0">
              <a:latin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40056302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72158" y="221216"/>
            <a:ext cx="9144000" cy="560663"/>
          </a:xfrm>
        </p:spPr>
        <p:txBody>
          <a:bodyPr>
            <a:noAutofit/>
          </a:bodyPr>
          <a:lstStyle/>
          <a:p>
            <a:pPr algn="l"/>
            <a:r>
              <a:rPr lang="en-GB" sz="4000" b="1" dirty="0"/>
              <a:t>Dataset </a:t>
            </a:r>
            <a:r>
              <a:rPr lang="en-GB" sz="4000" b="1" dirty="0"/>
              <a:t>description</a:t>
            </a:r>
          </a:p>
        </p:txBody>
      </p:sp>
      <p:sp>
        <p:nvSpPr>
          <p:cNvPr id="3" name="Subtitle 2"/>
          <p:cNvSpPr>
            <a:spLocks noGrp="1"/>
          </p:cNvSpPr>
          <p:nvPr>
            <p:ph type="subTitle" idx="1"/>
          </p:nvPr>
        </p:nvSpPr>
        <p:spPr>
          <a:xfrm>
            <a:off x="609600" y="781879"/>
            <a:ext cx="10934700" cy="5314121"/>
          </a:xfrm>
        </p:spPr>
        <p:txBody>
          <a:bodyPr>
            <a:normAutofit/>
          </a:bodyPr>
          <a:lstStyle/>
          <a:p>
            <a:pPr marL="457200" indent="-457200" algn="l">
              <a:buFont typeface="Arial" panose="020B0604020202020204" pitchFamily="34" charset="0"/>
              <a:buChar char="•"/>
            </a:pPr>
            <a:r>
              <a:rPr lang="en-GB" sz="3200" dirty="0" smtClean="0">
                <a:latin typeface="Times New Roman" panose="02020603050405020304" pitchFamily="18" charset="0"/>
                <a:cs typeface="Times New Roman" panose="02020603050405020304" pitchFamily="18" charset="0"/>
              </a:rPr>
              <a:t>Employee dataset: This dataset contains the primary profile and demographic information for each staff member. (Rows: 1470, Columns: 23) </a:t>
            </a:r>
          </a:p>
          <a:p>
            <a:pPr marL="457200" indent="-457200" algn="l">
              <a:buFont typeface="Arial" panose="020B0604020202020204" pitchFamily="34" charset="0"/>
              <a:buChar char="•"/>
            </a:pPr>
            <a:r>
              <a:rPr lang="en-GB" sz="3200" dirty="0" smtClean="0">
                <a:latin typeface="Times New Roman" panose="02020603050405020304" pitchFamily="18" charset="0"/>
                <a:cs typeface="Times New Roman" panose="02020603050405020304" pitchFamily="18" charset="0"/>
              </a:rPr>
              <a:t>Performance rating: This dataset contains historical performance reviews and satisfaction metrics recorded over time. (Rows: 6709, Columns: 13) </a:t>
            </a:r>
          </a:p>
          <a:p>
            <a:pPr marL="342900" indent="-342900" algn="l">
              <a:buFont typeface="Arial" panose="020B0604020202020204" pitchFamily="34" charset="0"/>
              <a:buChar char="•"/>
            </a:pPr>
            <a:r>
              <a:rPr lang="en-GB" sz="3200" dirty="0" smtClean="0">
                <a:latin typeface="Times New Roman" panose="02020603050405020304" pitchFamily="18" charset="0"/>
                <a:cs typeface="Times New Roman" panose="02020603050405020304" pitchFamily="18" charset="0"/>
              </a:rPr>
              <a:t>Education dataset: (Rows: 5, Columns: 2)</a:t>
            </a:r>
          </a:p>
          <a:p>
            <a:pPr algn="l"/>
            <a:r>
              <a:rPr lang="en-GB" dirty="0" err="1" smtClean="0">
                <a:latin typeface="Times New Roman" panose="02020603050405020304" pitchFamily="18" charset="0"/>
                <a:cs typeface="Times New Roman" panose="02020603050405020304" pitchFamily="18" charset="0"/>
              </a:rPr>
              <a:t>Datasource</a:t>
            </a:r>
            <a:r>
              <a:rPr lang="en-GB" dirty="0" smtClean="0">
                <a:latin typeface="Times New Roman" panose="02020603050405020304" pitchFamily="18" charset="0"/>
                <a:cs typeface="Times New Roman" panose="02020603050405020304" pitchFamily="18" charset="0"/>
              </a:rPr>
              <a:t>: </a:t>
            </a:r>
            <a:r>
              <a:rPr lang="en-GB" dirty="0" smtClean="0">
                <a:hlinkClick r:id="rId2"/>
              </a:rPr>
              <a:t>https://app.datacamp.com/learn/courses/case-study-hr-analytics-in-tableau</a:t>
            </a:r>
            <a:r>
              <a:rPr lang="en-GB" dirty="0" smtClean="0"/>
              <a:t> </a:t>
            </a:r>
            <a:endParaRPr lang="en-GB" dirty="0" smtClean="0">
              <a:latin typeface="Times New Roman" panose="02020603050405020304" pitchFamily="18" charset="0"/>
              <a:cs typeface="Times New Roman" panose="02020603050405020304" pitchFamily="18" charset="0"/>
            </a:endParaRPr>
          </a:p>
          <a:p>
            <a:pPr algn="l"/>
            <a:endParaRPr lang="en-GB" sz="3200" dirty="0" smtClean="0"/>
          </a:p>
          <a:p>
            <a:pPr algn="l"/>
            <a:endParaRPr lang="en-GB" dirty="0" smtClean="0"/>
          </a:p>
          <a:p>
            <a:pPr marL="342900" indent="-342900" algn="l">
              <a:buFont typeface="Arial" panose="020B0604020202020204" pitchFamily="34" charset="0"/>
              <a:buChar char="•"/>
            </a:pPr>
            <a:endParaRPr lang="en-GB" dirty="0"/>
          </a:p>
        </p:txBody>
      </p:sp>
    </p:spTree>
    <p:extLst>
      <p:ext uri="{BB962C8B-B14F-4D97-AF65-F5344CB8AC3E}">
        <p14:creationId xmlns:p14="http://schemas.microsoft.com/office/powerpoint/2010/main" val="42685117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6268"/>
            <a:ext cx="10515600" cy="933588"/>
          </a:xfrm>
        </p:spPr>
        <p:txBody>
          <a:bodyPr/>
          <a:lstStyle/>
          <a:p>
            <a:r>
              <a:rPr lang="en-GB" sz="3200" b="1" dirty="0"/>
              <a:t>Data</a:t>
            </a:r>
            <a:r>
              <a:rPr lang="en-GB" b="1" dirty="0" smtClean="0"/>
              <a:t> </a:t>
            </a:r>
            <a:r>
              <a:rPr lang="en-GB" sz="3200" b="1" dirty="0"/>
              <a:t>Dictionary: Employee Data</a:t>
            </a:r>
          </a:p>
        </p:txBody>
      </p:sp>
      <p:graphicFrame>
        <p:nvGraphicFramePr>
          <p:cNvPr id="6" name="Table 5"/>
          <p:cNvGraphicFramePr>
            <a:graphicFrameLocks noGrp="1"/>
          </p:cNvGraphicFramePr>
          <p:nvPr>
            <p:extLst>
              <p:ext uri="{D42A27DB-BD31-4B8C-83A1-F6EECF244321}">
                <p14:modId xmlns:p14="http://schemas.microsoft.com/office/powerpoint/2010/main" val="1375761364"/>
              </p:ext>
            </p:extLst>
          </p:nvPr>
        </p:nvGraphicFramePr>
        <p:xfrm>
          <a:off x="523461" y="558295"/>
          <a:ext cx="11145078" cy="6087850"/>
        </p:xfrm>
        <a:graphic>
          <a:graphicData uri="http://schemas.openxmlformats.org/drawingml/2006/table">
            <a:tbl>
              <a:tblPr>
                <a:tableStyleId>{5C22544A-7EE6-4342-B048-85BDC9FD1C3A}</a:tableStyleId>
              </a:tblPr>
              <a:tblGrid>
                <a:gridCol w="2113722">
                  <a:extLst>
                    <a:ext uri="{9D8B030D-6E8A-4147-A177-3AD203B41FA5}">
                      <a16:colId xmlns:a16="http://schemas.microsoft.com/office/drawing/2014/main" val="1067638592"/>
                    </a:ext>
                  </a:extLst>
                </a:gridCol>
                <a:gridCol w="947530">
                  <a:extLst>
                    <a:ext uri="{9D8B030D-6E8A-4147-A177-3AD203B41FA5}">
                      <a16:colId xmlns:a16="http://schemas.microsoft.com/office/drawing/2014/main" val="1802816517"/>
                    </a:ext>
                  </a:extLst>
                </a:gridCol>
                <a:gridCol w="5353878">
                  <a:extLst>
                    <a:ext uri="{9D8B030D-6E8A-4147-A177-3AD203B41FA5}">
                      <a16:colId xmlns:a16="http://schemas.microsoft.com/office/drawing/2014/main" val="3245813316"/>
                    </a:ext>
                  </a:extLst>
                </a:gridCol>
                <a:gridCol w="2729948">
                  <a:extLst>
                    <a:ext uri="{9D8B030D-6E8A-4147-A177-3AD203B41FA5}">
                      <a16:colId xmlns:a16="http://schemas.microsoft.com/office/drawing/2014/main" val="419938602"/>
                    </a:ext>
                  </a:extLst>
                </a:gridCol>
              </a:tblGrid>
              <a:tr h="215907">
                <a:tc>
                  <a:txBody>
                    <a:bodyPr/>
                    <a:lstStyle/>
                    <a:p>
                      <a:pPr algn="just" fontAlgn="t"/>
                      <a:r>
                        <a:rPr lang="en-GB" sz="1400" u="none" strike="noStrike" dirty="0">
                          <a:effectLst/>
                          <a:latin typeface="Times New Roman" panose="02020603050405020304" pitchFamily="18" charset="0"/>
                          <a:cs typeface="Times New Roman" panose="02020603050405020304" pitchFamily="18" charset="0"/>
                        </a:rPr>
                        <a:t>Fea</a:t>
                      </a:r>
                      <a:r>
                        <a:rPr lang="en-GB" sz="1400" b="1" u="none" strike="noStrike" dirty="0">
                          <a:effectLst/>
                          <a:latin typeface="Times New Roman" panose="02020603050405020304" pitchFamily="18" charset="0"/>
                          <a:cs typeface="Times New Roman" panose="02020603050405020304" pitchFamily="18" charset="0"/>
                        </a:rPr>
                        <a:t>ture Name</a:t>
                      </a:r>
                      <a:endParaRPr lang="en-GB"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046" marR="8046" marT="8046" marB="0"/>
                </a:tc>
                <a:tc>
                  <a:txBody>
                    <a:bodyPr/>
                    <a:lstStyle/>
                    <a:p>
                      <a:pPr algn="just" fontAlgn="b"/>
                      <a:r>
                        <a:rPr lang="en-GB" sz="1400" b="1" u="none" strike="noStrike">
                          <a:effectLst/>
                          <a:latin typeface="Times New Roman" panose="02020603050405020304" pitchFamily="18" charset="0"/>
                          <a:cs typeface="Times New Roman" panose="02020603050405020304" pitchFamily="18" charset="0"/>
                        </a:rPr>
                        <a:t>Data Type</a:t>
                      </a:r>
                      <a:endParaRPr lang="en-GB" sz="1400" b="1"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b="1" u="none" strike="noStrike" dirty="0">
                          <a:effectLst/>
                          <a:latin typeface="Times New Roman" panose="02020603050405020304" pitchFamily="18" charset="0"/>
                          <a:cs typeface="Times New Roman" panose="02020603050405020304" pitchFamily="18" charset="0"/>
                        </a:rPr>
                        <a:t>Description </a:t>
                      </a:r>
                      <a:endParaRPr lang="en-GB"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b="1" u="none" strike="noStrike" dirty="0">
                          <a:effectLst/>
                          <a:latin typeface="Times New Roman" panose="02020603050405020304" pitchFamily="18" charset="0"/>
                          <a:cs typeface="Times New Roman" panose="02020603050405020304" pitchFamily="18" charset="0"/>
                        </a:rPr>
                        <a:t>Example-value</a:t>
                      </a:r>
                      <a:endParaRPr lang="en-GB"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1374816375"/>
                  </a:ext>
                </a:extLst>
              </a:tr>
              <a:tr h="215907">
                <a:tc>
                  <a:txBody>
                    <a:bodyPr/>
                    <a:lstStyle/>
                    <a:p>
                      <a:pPr algn="just" fontAlgn="b"/>
                      <a:r>
                        <a:rPr lang="en-GB" sz="1400" u="none" strike="noStrike" dirty="0" err="1">
                          <a:effectLst/>
                          <a:latin typeface="Times New Roman" panose="02020603050405020304" pitchFamily="18" charset="0"/>
                          <a:cs typeface="Times New Roman" panose="02020603050405020304" pitchFamily="18" charset="0"/>
                        </a:rPr>
                        <a:t>EmployeeID</a:t>
                      </a:r>
                      <a:endParaRPr lang="en-GB"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dirty="0">
                          <a:effectLst/>
                          <a:latin typeface="Times New Roman" panose="02020603050405020304" pitchFamily="18" charset="0"/>
                          <a:cs typeface="Times New Roman" panose="02020603050405020304" pitchFamily="18" charset="0"/>
                        </a:rPr>
                        <a:t>String</a:t>
                      </a:r>
                      <a:endParaRPr lang="en-GB"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dirty="0">
                          <a:effectLst/>
                          <a:latin typeface="Times New Roman" panose="02020603050405020304" pitchFamily="18" charset="0"/>
                          <a:cs typeface="Times New Roman" panose="02020603050405020304" pitchFamily="18" charset="0"/>
                        </a:rPr>
                        <a:t>Unique identifier for each employee. </a:t>
                      </a:r>
                      <a:endParaRPr lang="en-GB"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3012-1A41</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830166195"/>
                  </a:ext>
                </a:extLst>
              </a:tr>
              <a:tr h="215907">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FirstName</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String</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The employee's first name.</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Leonelle</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2770903652"/>
                  </a:ext>
                </a:extLst>
              </a:tr>
              <a:tr h="215907">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LastName</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String</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The employee's last name.</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Simco</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4170074685"/>
                  </a:ext>
                </a:extLst>
              </a:tr>
              <a:tr h="423968">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Gender</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dirty="0">
                          <a:effectLst/>
                          <a:latin typeface="Times New Roman" panose="02020603050405020304" pitchFamily="18" charset="0"/>
                          <a:cs typeface="Times New Roman" panose="02020603050405020304" pitchFamily="18" charset="0"/>
                        </a:rPr>
                        <a:t>String</a:t>
                      </a:r>
                      <a:endParaRPr lang="en-GB"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Gender identity of the employee.</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Female, Male, Non-Binary or Prefer Not to Say</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2703691184"/>
                  </a:ext>
                </a:extLst>
              </a:tr>
              <a:tr h="215907">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Age</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Integer</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The age of the employee.</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30</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163549018"/>
                  </a:ext>
                </a:extLst>
              </a:tr>
              <a:tr h="423968">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BusinessTravel</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String</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Frequency of business travel.</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No Travel, Some Travel, Frequent Travel</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3229831624"/>
                  </a:ext>
                </a:extLst>
              </a:tr>
              <a:tr h="215907">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Department</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String</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The department where the employee works </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Sales, Technology, HR</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3774444031"/>
                  </a:ext>
                </a:extLst>
              </a:tr>
              <a:tr h="383544">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DistanceFromHome (KM)</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Integer</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The distance between the employee’s home and the office in kilometers.</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20</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2390601226"/>
                  </a:ext>
                </a:extLst>
              </a:tr>
              <a:tr h="215907">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State</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String</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The code of the US state where the employee is based.</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NY, IL, CA</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76116773"/>
                  </a:ext>
                </a:extLst>
              </a:tr>
              <a:tr h="215907">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Ethnicity</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String</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The ethnic background of the employee.</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White, Native Hawaiian</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487104797"/>
                  </a:ext>
                </a:extLst>
              </a:tr>
              <a:tr h="244516">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Education</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Integer</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dirty="0">
                          <a:effectLst/>
                          <a:latin typeface="Times New Roman" panose="02020603050405020304" pitchFamily="18" charset="0"/>
                          <a:cs typeface="Times New Roman" panose="02020603050405020304" pitchFamily="18" charset="0"/>
                        </a:rPr>
                        <a:t>Numeric code representing education level. </a:t>
                      </a:r>
                      <a:endParaRPr lang="en-GB"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1,2,3,4,5</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1625879164"/>
                  </a:ext>
                </a:extLst>
              </a:tr>
              <a:tr h="215907">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EducationField</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String</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The primary field of study </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Computer, Marketing</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3949844641"/>
                  </a:ext>
                </a:extLst>
              </a:tr>
              <a:tr h="215907">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JobRole</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String</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The employee's specific job title </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Software Engineer, Sales Executive</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1678884373"/>
                  </a:ext>
                </a:extLst>
              </a:tr>
              <a:tr h="215907">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MaritalStatus</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String</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Current marital status </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Single, Married, Divorced</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606245694"/>
                  </a:ext>
                </a:extLst>
              </a:tr>
              <a:tr h="215907">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Salary</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Integer</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The annual gross salary of the employee in USD .</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102059</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1708215638"/>
                  </a:ext>
                </a:extLst>
              </a:tr>
              <a:tr h="215907">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StockOptionLevel</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Integer</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The level of stock options granted to the employee </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0 to 3</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2291117626"/>
                  </a:ext>
                </a:extLst>
              </a:tr>
              <a:tr h="215907">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OverTime</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String</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Whether the employee works overtime </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Yes/ No</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3373227503"/>
                  </a:ext>
                </a:extLst>
              </a:tr>
              <a:tr h="215907">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HireDate</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Date</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The date the employee was hired.</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15/01/2012</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1724080624"/>
                  </a:ext>
                </a:extLst>
              </a:tr>
              <a:tr h="215907">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Attrition</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String</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Whether the employee has left the company </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Yes/ No</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570996975"/>
                  </a:ext>
                </a:extLst>
              </a:tr>
              <a:tr h="215907">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YearsAtCompany</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Integer</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Total years the employee has worked at the company.</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10</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773803187"/>
                  </a:ext>
                </a:extLst>
              </a:tr>
              <a:tr h="215907">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YearsInMostRecentRole</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Integer</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Number of years the employee has been in their current position.</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5</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3572424424"/>
                  </a:ext>
                </a:extLst>
              </a:tr>
              <a:tr h="215907">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YearsSinceLastPromotion</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Integer</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Number of years since the employee was last promoted.</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4</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2285623703"/>
                  </a:ext>
                </a:extLst>
              </a:tr>
              <a:tr h="383544">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YearsWithCurrManager</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Integer</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a:effectLst/>
                          <a:latin typeface="Times New Roman" panose="02020603050405020304" pitchFamily="18" charset="0"/>
                          <a:cs typeface="Times New Roman" panose="02020603050405020304" pitchFamily="18" charset="0"/>
                        </a:rPr>
                        <a:t>Number of years the employee has worked under their current manager.</a:t>
                      </a:r>
                      <a:endParaRPr lang="en-GB" sz="1400" b="0" i="0" u="none" strike="noStrike">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tc>
                  <a:txBody>
                    <a:bodyPr/>
                    <a:lstStyle/>
                    <a:p>
                      <a:pPr algn="just" fontAlgn="b"/>
                      <a:r>
                        <a:rPr lang="en-GB" sz="1400" u="none" strike="noStrike" dirty="0">
                          <a:effectLst/>
                          <a:latin typeface="Times New Roman" panose="02020603050405020304" pitchFamily="18" charset="0"/>
                          <a:cs typeface="Times New Roman" panose="02020603050405020304" pitchFamily="18" charset="0"/>
                        </a:rPr>
                        <a:t>5</a:t>
                      </a:r>
                      <a:endParaRPr lang="en-GB"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046" marR="8046" marT="8046" marB="0" anchor="b"/>
                </a:tc>
                <a:extLst>
                  <a:ext uri="{0D108BD9-81ED-4DB2-BD59-A6C34878D82A}">
                    <a16:rowId xmlns:a16="http://schemas.microsoft.com/office/drawing/2014/main" val="2672837977"/>
                  </a:ext>
                </a:extLst>
              </a:tr>
            </a:tbl>
          </a:graphicData>
        </a:graphic>
      </p:graphicFrame>
    </p:spTree>
    <p:extLst>
      <p:ext uri="{BB962C8B-B14F-4D97-AF65-F5344CB8AC3E}">
        <p14:creationId xmlns:p14="http://schemas.microsoft.com/office/powerpoint/2010/main" val="8094789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200" y="92765"/>
            <a:ext cx="10515600" cy="834887"/>
          </a:xfrm>
        </p:spPr>
        <p:txBody>
          <a:bodyPr>
            <a:normAutofit/>
          </a:bodyPr>
          <a:lstStyle/>
          <a:p>
            <a:r>
              <a:rPr lang="en-GB" sz="3200" b="1" dirty="0" smtClean="0"/>
              <a:t>Data Dictionary: Performance rating</a:t>
            </a:r>
            <a:endParaRPr lang="en-GB" sz="3200" b="1" dirty="0"/>
          </a:p>
        </p:txBody>
      </p:sp>
      <p:graphicFrame>
        <p:nvGraphicFramePr>
          <p:cNvPr id="5" name="Table 4"/>
          <p:cNvGraphicFramePr>
            <a:graphicFrameLocks noGrp="1"/>
          </p:cNvGraphicFramePr>
          <p:nvPr>
            <p:extLst>
              <p:ext uri="{D42A27DB-BD31-4B8C-83A1-F6EECF244321}">
                <p14:modId xmlns:p14="http://schemas.microsoft.com/office/powerpoint/2010/main" val="2519271345"/>
              </p:ext>
            </p:extLst>
          </p:nvPr>
        </p:nvGraphicFramePr>
        <p:xfrm>
          <a:off x="255104" y="754422"/>
          <a:ext cx="11681792" cy="6103578"/>
        </p:xfrm>
        <a:graphic>
          <a:graphicData uri="http://schemas.openxmlformats.org/drawingml/2006/table">
            <a:tbl>
              <a:tblPr>
                <a:tableStyleId>{5C22544A-7EE6-4342-B048-85BDC9FD1C3A}</a:tableStyleId>
              </a:tblPr>
              <a:tblGrid>
                <a:gridCol w="2125792">
                  <a:extLst>
                    <a:ext uri="{9D8B030D-6E8A-4147-A177-3AD203B41FA5}">
                      <a16:colId xmlns:a16="http://schemas.microsoft.com/office/drawing/2014/main" val="4182269540"/>
                    </a:ext>
                  </a:extLst>
                </a:gridCol>
                <a:gridCol w="663791">
                  <a:extLst>
                    <a:ext uri="{9D8B030D-6E8A-4147-A177-3AD203B41FA5}">
                      <a16:colId xmlns:a16="http://schemas.microsoft.com/office/drawing/2014/main" val="4243297905"/>
                    </a:ext>
                  </a:extLst>
                </a:gridCol>
                <a:gridCol w="4996069">
                  <a:extLst>
                    <a:ext uri="{9D8B030D-6E8A-4147-A177-3AD203B41FA5}">
                      <a16:colId xmlns:a16="http://schemas.microsoft.com/office/drawing/2014/main" val="2998031837"/>
                    </a:ext>
                  </a:extLst>
                </a:gridCol>
                <a:gridCol w="3896140">
                  <a:extLst>
                    <a:ext uri="{9D8B030D-6E8A-4147-A177-3AD203B41FA5}">
                      <a16:colId xmlns:a16="http://schemas.microsoft.com/office/drawing/2014/main" val="392286227"/>
                    </a:ext>
                  </a:extLst>
                </a:gridCol>
              </a:tblGrid>
              <a:tr h="251788">
                <a:tc>
                  <a:txBody>
                    <a:bodyPr/>
                    <a:lstStyle/>
                    <a:p>
                      <a:pPr algn="l" fontAlgn="t"/>
                      <a:r>
                        <a:rPr lang="en-GB" sz="1500" b="1" u="none" strike="noStrike" dirty="0">
                          <a:effectLst/>
                        </a:rPr>
                        <a:t>Feature Name</a:t>
                      </a:r>
                      <a:endParaRPr lang="en-GB" sz="1500" b="1" i="0" u="none" strike="noStrike" dirty="0">
                        <a:solidFill>
                          <a:srgbClr val="000000"/>
                        </a:solidFill>
                        <a:effectLst/>
                        <a:latin typeface="Calibri" panose="020F0502020204030204" pitchFamily="34" charset="0"/>
                      </a:endParaRPr>
                    </a:p>
                  </a:txBody>
                  <a:tcPr marL="8156" marR="8156" marT="8156" marB="0"/>
                </a:tc>
                <a:tc>
                  <a:txBody>
                    <a:bodyPr/>
                    <a:lstStyle/>
                    <a:p>
                      <a:pPr algn="l" fontAlgn="b"/>
                      <a:r>
                        <a:rPr lang="en-GB" sz="1500" b="1" u="none" strike="noStrike">
                          <a:effectLst/>
                        </a:rPr>
                        <a:t>Data Type</a:t>
                      </a:r>
                      <a:endParaRPr lang="en-GB" sz="1500" b="1" i="0" u="none" strike="noStrike">
                        <a:solidFill>
                          <a:srgbClr val="000000"/>
                        </a:solidFill>
                        <a:effectLst/>
                        <a:latin typeface="Calibri" panose="020F0502020204030204" pitchFamily="34" charset="0"/>
                      </a:endParaRPr>
                    </a:p>
                  </a:txBody>
                  <a:tcPr marL="8156" marR="8156" marT="8156" marB="0" anchor="b"/>
                </a:tc>
                <a:tc>
                  <a:txBody>
                    <a:bodyPr/>
                    <a:lstStyle/>
                    <a:p>
                      <a:pPr algn="l" fontAlgn="b"/>
                      <a:r>
                        <a:rPr lang="en-GB" sz="1500" b="1" u="none" strike="noStrike" dirty="0">
                          <a:effectLst/>
                        </a:rPr>
                        <a:t>Description </a:t>
                      </a:r>
                      <a:endParaRPr lang="en-GB" sz="1500" b="1" i="0" u="none" strike="noStrike" dirty="0">
                        <a:solidFill>
                          <a:srgbClr val="000000"/>
                        </a:solidFill>
                        <a:effectLst/>
                        <a:latin typeface="Calibri" panose="020F0502020204030204" pitchFamily="34" charset="0"/>
                      </a:endParaRPr>
                    </a:p>
                  </a:txBody>
                  <a:tcPr marL="8156" marR="8156" marT="8156" marB="0" anchor="b"/>
                </a:tc>
                <a:tc>
                  <a:txBody>
                    <a:bodyPr/>
                    <a:lstStyle/>
                    <a:p>
                      <a:pPr algn="l" fontAlgn="b"/>
                      <a:r>
                        <a:rPr lang="en-GB" sz="1500" b="1" u="none" strike="noStrike" dirty="0">
                          <a:effectLst/>
                        </a:rPr>
                        <a:t>Example-value</a:t>
                      </a:r>
                      <a:endParaRPr lang="en-GB" sz="1500" b="1" i="0" u="none" strike="noStrike" dirty="0">
                        <a:solidFill>
                          <a:srgbClr val="000000"/>
                        </a:solidFill>
                        <a:effectLst/>
                        <a:latin typeface="Calibri" panose="020F0502020204030204" pitchFamily="34" charset="0"/>
                      </a:endParaRPr>
                    </a:p>
                  </a:txBody>
                  <a:tcPr marL="8156" marR="8156" marT="8156" marB="0" anchor="b"/>
                </a:tc>
                <a:extLst>
                  <a:ext uri="{0D108BD9-81ED-4DB2-BD59-A6C34878D82A}">
                    <a16:rowId xmlns:a16="http://schemas.microsoft.com/office/drawing/2014/main" val="434434137"/>
                  </a:ext>
                </a:extLst>
              </a:tr>
              <a:tr h="304592">
                <a:tc>
                  <a:txBody>
                    <a:bodyPr/>
                    <a:lstStyle/>
                    <a:p>
                      <a:pPr algn="l" fontAlgn="b"/>
                      <a:r>
                        <a:rPr lang="en-GB" sz="1500" u="none" strike="noStrike" dirty="0" err="1">
                          <a:effectLst/>
                        </a:rPr>
                        <a:t>PerformanceID</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String</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Unique identifier for each specific review record.</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79F7-78EC</a:t>
                      </a:r>
                      <a:endParaRPr lang="en-GB" sz="1500" b="0" i="0" u="none" strike="noStrike" dirty="0">
                        <a:solidFill>
                          <a:srgbClr val="000000"/>
                        </a:solidFill>
                        <a:effectLst/>
                        <a:latin typeface="Times New Roman" panose="02020603050405020304" pitchFamily="18" charset="0"/>
                      </a:endParaRPr>
                    </a:p>
                  </a:txBody>
                  <a:tcPr marL="8156" marR="8156" marT="8156" marB="0" anchor="b"/>
                </a:tc>
                <a:extLst>
                  <a:ext uri="{0D108BD9-81ED-4DB2-BD59-A6C34878D82A}">
                    <a16:rowId xmlns:a16="http://schemas.microsoft.com/office/drawing/2014/main" val="1673966416"/>
                  </a:ext>
                </a:extLst>
              </a:tr>
              <a:tr h="343243">
                <a:tc>
                  <a:txBody>
                    <a:bodyPr/>
                    <a:lstStyle/>
                    <a:p>
                      <a:pPr algn="l" fontAlgn="b"/>
                      <a:r>
                        <a:rPr lang="en-GB" sz="1500" u="none" strike="noStrike" dirty="0" err="1">
                          <a:effectLst/>
                        </a:rPr>
                        <a:t>EmployeeID</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String</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Unique identifier of the employee</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3012-1A41</a:t>
                      </a:r>
                      <a:endParaRPr lang="en-GB" sz="1500" b="0" i="0" u="none" strike="noStrike" dirty="0">
                        <a:solidFill>
                          <a:srgbClr val="000000"/>
                        </a:solidFill>
                        <a:effectLst/>
                        <a:latin typeface="Times New Roman" panose="02020603050405020304" pitchFamily="18" charset="0"/>
                      </a:endParaRPr>
                    </a:p>
                  </a:txBody>
                  <a:tcPr marL="8156" marR="8156" marT="8156" marB="0" anchor="b"/>
                </a:tc>
                <a:extLst>
                  <a:ext uri="{0D108BD9-81ED-4DB2-BD59-A6C34878D82A}">
                    <a16:rowId xmlns:a16="http://schemas.microsoft.com/office/drawing/2014/main" val="2910233812"/>
                  </a:ext>
                </a:extLst>
              </a:tr>
              <a:tr h="343243">
                <a:tc>
                  <a:txBody>
                    <a:bodyPr/>
                    <a:lstStyle/>
                    <a:p>
                      <a:pPr algn="l" fontAlgn="b"/>
                      <a:r>
                        <a:rPr lang="en-GB" sz="1500" u="none" strike="noStrike">
                          <a:effectLst/>
                        </a:rPr>
                        <a:t>ReviewDate</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Date</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The date the performance review was conducted.</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15/01/2012</a:t>
                      </a:r>
                      <a:endParaRPr lang="en-GB" sz="1500" b="0" i="0" u="none" strike="noStrike">
                        <a:solidFill>
                          <a:srgbClr val="000000"/>
                        </a:solidFill>
                        <a:effectLst/>
                        <a:latin typeface="Times New Roman" panose="02020603050405020304" pitchFamily="18" charset="0"/>
                      </a:endParaRPr>
                    </a:p>
                  </a:txBody>
                  <a:tcPr marL="8156" marR="8156" marT="8156" marB="0" anchor="b"/>
                </a:tc>
                <a:extLst>
                  <a:ext uri="{0D108BD9-81ED-4DB2-BD59-A6C34878D82A}">
                    <a16:rowId xmlns:a16="http://schemas.microsoft.com/office/drawing/2014/main" val="4278499255"/>
                  </a:ext>
                </a:extLst>
              </a:tr>
              <a:tr h="343243">
                <a:tc>
                  <a:txBody>
                    <a:bodyPr/>
                    <a:lstStyle/>
                    <a:p>
                      <a:pPr algn="l" fontAlgn="b"/>
                      <a:r>
                        <a:rPr lang="en-GB" sz="1500" u="none" strike="noStrike">
                          <a:effectLst/>
                        </a:rPr>
                        <a:t>EnvironmentSatisfaction</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String</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Rating of the physical work environment .</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Satisfied, Dissatisfied, Very Satisfied, Very Dissatisfied</a:t>
                      </a:r>
                      <a:endParaRPr lang="en-GB" sz="1500" b="0" i="0" u="none" strike="noStrike">
                        <a:solidFill>
                          <a:srgbClr val="000000"/>
                        </a:solidFill>
                        <a:effectLst/>
                        <a:latin typeface="Times New Roman" panose="02020603050405020304" pitchFamily="18" charset="0"/>
                      </a:endParaRPr>
                    </a:p>
                  </a:txBody>
                  <a:tcPr marL="8156" marR="8156" marT="8156" marB="0" anchor="b"/>
                </a:tc>
                <a:extLst>
                  <a:ext uri="{0D108BD9-81ED-4DB2-BD59-A6C34878D82A}">
                    <a16:rowId xmlns:a16="http://schemas.microsoft.com/office/drawing/2014/main" val="3290727890"/>
                  </a:ext>
                </a:extLst>
              </a:tr>
              <a:tr h="343243">
                <a:tc>
                  <a:txBody>
                    <a:bodyPr/>
                    <a:lstStyle/>
                    <a:p>
                      <a:pPr algn="l" fontAlgn="b"/>
                      <a:r>
                        <a:rPr lang="en-GB" sz="1500" u="none" strike="noStrike">
                          <a:effectLst/>
                        </a:rPr>
                        <a:t>JobSatisfaction</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String</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Level of satisfaction with the current job role.</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Satisfied, Dissatisfied, Very Satisfied, Very Dissatisfied</a:t>
                      </a:r>
                      <a:endParaRPr lang="en-GB" sz="1500" b="0" i="0" u="none" strike="noStrike">
                        <a:solidFill>
                          <a:srgbClr val="000000"/>
                        </a:solidFill>
                        <a:effectLst/>
                        <a:latin typeface="Times New Roman" panose="02020603050405020304" pitchFamily="18" charset="0"/>
                      </a:endParaRPr>
                    </a:p>
                  </a:txBody>
                  <a:tcPr marL="8156" marR="8156" marT="8156" marB="0" anchor="b"/>
                </a:tc>
                <a:extLst>
                  <a:ext uri="{0D108BD9-81ED-4DB2-BD59-A6C34878D82A}">
                    <a16:rowId xmlns:a16="http://schemas.microsoft.com/office/drawing/2014/main" val="3640141749"/>
                  </a:ext>
                </a:extLst>
              </a:tr>
              <a:tr h="343243">
                <a:tc>
                  <a:txBody>
                    <a:bodyPr/>
                    <a:lstStyle/>
                    <a:p>
                      <a:pPr algn="l" fontAlgn="b"/>
                      <a:r>
                        <a:rPr lang="en-GB" sz="1500" u="none" strike="noStrike">
                          <a:effectLst/>
                        </a:rPr>
                        <a:t>RelationshipSatisfaction</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String</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Level of satisfaction with workplace relationships/colleagues.</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Satisfied, Dissatisfied, Very Satisfied, Very Dissatisfied</a:t>
                      </a:r>
                      <a:endParaRPr lang="en-GB" sz="1500" b="0" i="0" u="none" strike="noStrike" dirty="0">
                        <a:solidFill>
                          <a:srgbClr val="000000"/>
                        </a:solidFill>
                        <a:effectLst/>
                        <a:latin typeface="Times New Roman" panose="02020603050405020304" pitchFamily="18" charset="0"/>
                      </a:endParaRPr>
                    </a:p>
                  </a:txBody>
                  <a:tcPr marL="8156" marR="8156" marT="8156" marB="0" anchor="b"/>
                </a:tc>
                <a:extLst>
                  <a:ext uri="{0D108BD9-81ED-4DB2-BD59-A6C34878D82A}">
                    <a16:rowId xmlns:a16="http://schemas.microsoft.com/office/drawing/2014/main" val="379265717"/>
                  </a:ext>
                </a:extLst>
              </a:tr>
              <a:tr h="524535">
                <a:tc>
                  <a:txBody>
                    <a:bodyPr/>
                    <a:lstStyle/>
                    <a:p>
                      <a:pPr algn="l" fontAlgn="b"/>
                      <a:r>
                        <a:rPr lang="en-GB" sz="1500" u="none" strike="noStrike" dirty="0" err="1">
                          <a:effectLst/>
                        </a:rPr>
                        <a:t>TrainingOpportunitiesWithinYear</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Integer</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Number of training sessions offered to the employee in the last year.</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1,2,3</a:t>
                      </a:r>
                      <a:endParaRPr lang="en-GB" sz="1500" b="0" i="0" u="none" strike="noStrike">
                        <a:solidFill>
                          <a:srgbClr val="000000"/>
                        </a:solidFill>
                        <a:effectLst/>
                        <a:latin typeface="Times New Roman" panose="02020603050405020304" pitchFamily="18" charset="0"/>
                      </a:endParaRPr>
                    </a:p>
                  </a:txBody>
                  <a:tcPr marL="8156" marR="8156" marT="8156" marB="0" anchor="b"/>
                </a:tc>
                <a:extLst>
                  <a:ext uri="{0D108BD9-81ED-4DB2-BD59-A6C34878D82A}">
                    <a16:rowId xmlns:a16="http://schemas.microsoft.com/office/drawing/2014/main" val="4187069227"/>
                  </a:ext>
                </a:extLst>
              </a:tr>
              <a:tr h="343243">
                <a:tc>
                  <a:txBody>
                    <a:bodyPr/>
                    <a:lstStyle/>
                    <a:p>
                      <a:pPr algn="l" fontAlgn="b"/>
                      <a:r>
                        <a:rPr lang="en-GB" sz="1500" u="none" strike="noStrike" dirty="0" err="1">
                          <a:effectLst/>
                        </a:rPr>
                        <a:t>TrainingOpportunitiesTaken</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Integer</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Number of training sessions the employee actually attended.</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0,1,2,3</a:t>
                      </a:r>
                      <a:endParaRPr lang="en-GB" sz="1500" b="0" i="0" u="none" strike="noStrike">
                        <a:solidFill>
                          <a:srgbClr val="000000"/>
                        </a:solidFill>
                        <a:effectLst/>
                        <a:latin typeface="Times New Roman" panose="02020603050405020304" pitchFamily="18" charset="0"/>
                      </a:endParaRPr>
                    </a:p>
                  </a:txBody>
                  <a:tcPr marL="8156" marR="8156" marT="8156" marB="0" anchor="b"/>
                </a:tc>
                <a:extLst>
                  <a:ext uri="{0D108BD9-81ED-4DB2-BD59-A6C34878D82A}">
                    <a16:rowId xmlns:a16="http://schemas.microsoft.com/office/drawing/2014/main" val="3411712180"/>
                  </a:ext>
                </a:extLst>
              </a:tr>
              <a:tr h="343243">
                <a:tc>
                  <a:txBody>
                    <a:bodyPr/>
                    <a:lstStyle/>
                    <a:p>
                      <a:pPr algn="l" fontAlgn="b"/>
                      <a:r>
                        <a:rPr lang="en-GB" sz="1500" u="none" strike="noStrike">
                          <a:effectLst/>
                        </a:rPr>
                        <a:t>WorkLifeBalance</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String</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Rating of the employee's balance between work and personal life.</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Satisfied, Dissatisfied, Very Satisfied, Very Dissatisfied</a:t>
                      </a:r>
                      <a:endParaRPr lang="en-GB" sz="1500" b="0" i="0" u="none" strike="noStrike">
                        <a:solidFill>
                          <a:srgbClr val="000000"/>
                        </a:solidFill>
                        <a:effectLst/>
                        <a:latin typeface="Times New Roman" panose="02020603050405020304" pitchFamily="18" charset="0"/>
                      </a:endParaRPr>
                    </a:p>
                  </a:txBody>
                  <a:tcPr marL="8156" marR="8156" marT="8156" marB="0" anchor="b"/>
                </a:tc>
                <a:extLst>
                  <a:ext uri="{0D108BD9-81ED-4DB2-BD59-A6C34878D82A}">
                    <a16:rowId xmlns:a16="http://schemas.microsoft.com/office/drawing/2014/main" val="324091162"/>
                  </a:ext>
                </a:extLst>
              </a:tr>
              <a:tr h="343243">
                <a:tc>
                  <a:txBody>
                    <a:bodyPr/>
                    <a:lstStyle/>
                    <a:p>
                      <a:pPr algn="l" fontAlgn="b"/>
                      <a:r>
                        <a:rPr lang="en-GB" sz="1500" u="none" strike="noStrike" dirty="0" err="1">
                          <a:effectLst/>
                        </a:rPr>
                        <a:t>SelfRatingID</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Integer</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Numeric ID associated with the employee's self-assessment.</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3,4,5</a:t>
                      </a:r>
                      <a:endParaRPr lang="en-GB" sz="1500" b="0" i="0" u="none" strike="noStrike" dirty="0">
                        <a:solidFill>
                          <a:srgbClr val="000000"/>
                        </a:solidFill>
                        <a:effectLst/>
                        <a:latin typeface="Times New Roman" panose="02020603050405020304" pitchFamily="18" charset="0"/>
                      </a:endParaRPr>
                    </a:p>
                  </a:txBody>
                  <a:tcPr marL="8156" marR="8156" marT="8156" marB="0" anchor="b"/>
                </a:tc>
                <a:extLst>
                  <a:ext uri="{0D108BD9-81ED-4DB2-BD59-A6C34878D82A}">
                    <a16:rowId xmlns:a16="http://schemas.microsoft.com/office/drawing/2014/main" val="1323883418"/>
                  </a:ext>
                </a:extLst>
              </a:tr>
              <a:tr h="433671">
                <a:tc>
                  <a:txBody>
                    <a:bodyPr/>
                    <a:lstStyle/>
                    <a:p>
                      <a:pPr algn="l" fontAlgn="b"/>
                      <a:r>
                        <a:rPr lang="en-GB" sz="1500" u="none" strike="noStrike">
                          <a:effectLst/>
                        </a:rPr>
                        <a:t>SelfRating</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String</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The text description of the self-rating </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Above and beyond, Exceeds Expectation, Meets expectation </a:t>
                      </a:r>
                      <a:endParaRPr lang="en-GB" sz="1500" b="0" i="0" u="none" strike="noStrike" dirty="0">
                        <a:solidFill>
                          <a:srgbClr val="000000"/>
                        </a:solidFill>
                        <a:effectLst/>
                        <a:latin typeface="Times New Roman" panose="02020603050405020304" pitchFamily="18" charset="0"/>
                      </a:endParaRPr>
                    </a:p>
                  </a:txBody>
                  <a:tcPr marL="8156" marR="8156" marT="8156" marB="0" anchor="b"/>
                </a:tc>
                <a:extLst>
                  <a:ext uri="{0D108BD9-81ED-4DB2-BD59-A6C34878D82A}">
                    <a16:rowId xmlns:a16="http://schemas.microsoft.com/office/drawing/2014/main" val="33180154"/>
                  </a:ext>
                </a:extLst>
              </a:tr>
              <a:tr h="343243">
                <a:tc>
                  <a:txBody>
                    <a:bodyPr/>
                    <a:lstStyle/>
                    <a:p>
                      <a:pPr algn="l" fontAlgn="b"/>
                      <a:r>
                        <a:rPr lang="en-GB" sz="1500" u="none" strike="noStrike">
                          <a:effectLst/>
                        </a:rPr>
                        <a:t>ManagerRatingID</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Integer</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Numeric ID associated with the manager's assessment.</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2,3,4,5</a:t>
                      </a:r>
                      <a:endParaRPr lang="en-GB" sz="1500" b="0" i="0" u="none" strike="noStrike" dirty="0">
                        <a:solidFill>
                          <a:srgbClr val="000000"/>
                        </a:solidFill>
                        <a:effectLst/>
                        <a:latin typeface="Times New Roman" panose="02020603050405020304" pitchFamily="18" charset="0"/>
                      </a:endParaRPr>
                    </a:p>
                  </a:txBody>
                  <a:tcPr marL="8156" marR="8156" marT="8156" marB="0" anchor="b"/>
                </a:tc>
                <a:extLst>
                  <a:ext uri="{0D108BD9-81ED-4DB2-BD59-A6C34878D82A}">
                    <a16:rowId xmlns:a16="http://schemas.microsoft.com/office/drawing/2014/main" val="2490128332"/>
                  </a:ext>
                </a:extLst>
              </a:tr>
              <a:tr h="643987">
                <a:tc>
                  <a:txBody>
                    <a:bodyPr/>
                    <a:lstStyle/>
                    <a:p>
                      <a:pPr algn="l" fontAlgn="b"/>
                      <a:r>
                        <a:rPr lang="en-GB" sz="1500" u="none" strike="noStrike" dirty="0" err="1">
                          <a:effectLst/>
                        </a:rPr>
                        <a:t>ManagerRating</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a:effectLst/>
                        </a:rPr>
                        <a:t>String</a:t>
                      </a:r>
                      <a:endParaRPr lang="en-GB" sz="15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The text description of the manager's rating.</a:t>
                      </a:r>
                      <a:endParaRPr lang="en-GB" sz="1500" b="0" i="0" u="none" strike="noStrike" dirty="0">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500" u="none" strike="noStrike" dirty="0">
                          <a:effectLst/>
                        </a:rPr>
                        <a:t>Above and beyond, Exceeds Expectation, Meets expectation, Need improvement</a:t>
                      </a:r>
                      <a:endParaRPr lang="en-GB" sz="1500" b="0" i="0" u="none" strike="noStrike" dirty="0">
                        <a:solidFill>
                          <a:srgbClr val="000000"/>
                        </a:solidFill>
                        <a:effectLst/>
                        <a:latin typeface="Times New Roman" panose="02020603050405020304" pitchFamily="18" charset="0"/>
                      </a:endParaRPr>
                    </a:p>
                  </a:txBody>
                  <a:tcPr marL="8156" marR="8156" marT="8156" marB="0" anchor="b"/>
                </a:tc>
                <a:extLst>
                  <a:ext uri="{0D108BD9-81ED-4DB2-BD59-A6C34878D82A}">
                    <a16:rowId xmlns:a16="http://schemas.microsoft.com/office/drawing/2014/main" val="810230798"/>
                  </a:ext>
                </a:extLst>
              </a:tr>
            </a:tbl>
          </a:graphicData>
        </a:graphic>
      </p:graphicFrame>
    </p:spTree>
    <p:extLst>
      <p:ext uri="{BB962C8B-B14F-4D97-AF65-F5344CB8AC3E}">
        <p14:creationId xmlns:p14="http://schemas.microsoft.com/office/powerpoint/2010/main" val="6212439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39417" y="219305"/>
            <a:ext cx="10515600" cy="834887"/>
          </a:xfrm>
        </p:spPr>
        <p:txBody>
          <a:bodyPr>
            <a:normAutofit/>
          </a:bodyPr>
          <a:lstStyle/>
          <a:p>
            <a:r>
              <a:rPr lang="en-GB" sz="3200" b="1" dirty="0" smtClean="0"/>
              <a:t>Data Dictionary: Education Level</a:t>
            </a:r>
            <a:endParaRPr lang="en-GB" sz="3200" b="1" dirty="0"/>
          </a:p>
        </p:txBody>
      </p:sp>
      <p:graphicFrame>
        <p:nvGraphicFramePr>
          <p:cNvPr id="2" name="Table 1"/>
          <p:cNvGraphicFramePr>
            <a:graphicFrameLocks noGrp="1"/>
          </p:cNvGraphicFramePr>
          <p:nvPr>
            <p:extLst>
              <p:ext uri="{D42A27DB-BD31-4B8C-83A1-F6EECF244321}">
                <p14:modId xmlns:p14="http://schemas.microsoft.com/office/powerpoint/2010/main" val="3141173002"/>
              </p:ext>
            </p:extLst>
          </p:nvPr>
        </p:nvGraphicFramePr>
        <p:xfrm>
          <a:off x="732183" y="1054192"/>
          <a:ext cx="10942983" cy="1082920"/>
        </p:xfrm>
        <a:graphic>
          <a:graphicData uri="http://schemas.openxmlformats.org/drawingml/2006/table">
            <a:tbl>
              <a:tblPr>
                <a:tableStyleId>{5C22544A-7EE6-4342-B048-85BDC9FD1C3A}</a:tableStyleId>
              </a:tblPr>
              <a:tblGrid>
                <a:gridCol w="1722480">
                  <a:extLst>
                    <a:ext uri="{9D8B030D-6E8A-4147-A177-3AD203B41FA5}">
                      <a16:colId xmlns:a16="http://schemas.microsoft.com/office/drawing/2014/main" val="1781451936"/>
                    </a:ext>
                  </a:extLst>
                </a:gridCol>
                <a:gridCol w="1040842">
                  <a:extLst>
                    <a:ext uri="{9D8B030D-6E8A-4147-A177-3AD203B41FA5}">
                      <a16:colId xmlns:a16="http://schemas.microsoft.com/office/drawing/2014/main" val="3664627204"/>
                    </a:ext>
                  </a:extLst>
                </a:gridCol>
                <a:gridCol w="3903158">
                  <a:extLst>
                    <a:ext uri="{9D8B030D-6E8A-4147-A177-3AD203B41FA5}">
                      <a16:colId xmlns:a16="http://schemas.microsoft.com/office/drawing/2014/main" val="2613602799"/>
                    </a:ext>
                  </a:extLst>
                </a:gridCol>
                <a:gridCol w="4276503">
                  <a:extLst>
                    <a:ext uri="{9D8B030D-6E8A-4147-A177-3AD203B41FA5}">
                      <a16:colId xmlns:a16="http://schemas.microsoft.com/office/drawing/2014/main" val="2065406238"/>
                    </a:ext>
                  </a:extLst>
                </a:gridCol>
              </a:tblGrid>
              <a:tr h="293542">
                <a:tc>
                  <a:txBody>
                    <a:bodyPr/>
                    <a:lstStyle/>
                    <a:p>
                      <a:pPr algn="l" fontAlgn="t"/>
                      <a:r>
                        <a:rPr lang="en-GB" sz="1600" b="1" u="none" strike="noStrike">
                          <a:effectLst/>
                        </a:rPr>
                        <a:t>Feature Name</a:t>
                      </a:r>
                      <a:endParaRPr lang="en-GB" sz="1600" b="1" i="0" u="none" strike="noStrike">
                        <a:solidFill>
                          <a:srgbClr val="000000"/>
                        </a:solidFill>
                        <a:effectLst/>
                        <a:latin typeface="Calibri" panose="020F0502020204030204" pitchFamily="34" charset="0"/>
                      </a:endParaRPr>
                    </a:p>
                  </a:txBody>
                  <a:tcPr marL="8156" marR="8156" marT="8156" marB="0"/>
                </a:tc>
                <a:tc>
                  <a:txBody>
                    <a:bodyPr/>
                    <a:lstStyle/>
                    <a:p>
                      <a:pPr algn="l" fontAlgn="b"/>
                      <a:r>
                        <a:rPr lang="en-GB" sz="1600" b="1" u="none" strike="noStrike">
                          <a:effectLst/>
                        </a:rPr>
                        <a:t>Data Type</a:t>
                      </a:r>
                      <a:endParaRPr lang="en-GB" sz="1600" b="1" i="0" u="none" strike="noStrike">
                        <a:solidFill>
                          <a:srgbClr val="000000"/>
                        </a:solidFill>
                        <a:effectLst/>
                        <a:latin typeface="Calibri" panose="020F0502020204030204" pitchFamily="34" charset="0"/>
                      </a:endParaRPr>
                    </a:p>
                  </a:txBody>
                  <a:tcPr marL="8156" marR="8156" marT="8156" marB="0" anchor="b"/>
                </a:tc>
                <a:tc>
                  <a:txBody>
                    <a:bodyPr/>
                    <a:lstStyle/>
                    <a:p>
                      <a:pPr algn="l" fontAlgn="b"/>
                      <a:r>
                        <a:rPr lang="en-GB" sz="1600" b="1" u="none" strike="noStrike">
                          <a:effectLst/>
                        </a:rPr>
                        <a:t>Description </a:t>
                      </a:r>
                      <a:endParaRPr lang="en-GB" sz="1600" b="1" i="0" u="none" strike="noStrike">
                        <a:solidFill>
                          <a:srgbClr val="000000"/>
                        </a:solidFill>
                        <a:effectLst/>
                        <a:latin typeface="Calibri" panose="020F0502020204030204" pitchFamily="34" charset="0"/>
                      </a:endParaRPr>
                    </a:p>
                  </a:txBody>
                  <a:tcPr marL="8156" marR="8156" marT="8156" marB="0" anchor="b"/>
                </a:tc>
                <a:tc>
                  <a:txBody>
                    <a:bodyPr/>
                    <a:lstStyle/>
                    <a:p>
                      <a:pPr algn="l" fontAlgn="b"/>
                      <a:r>
                        <a:rPr lang="en-GB" sz="1600" b="1" u="none" strike="noStrike" dirty="0">
                          <a:effectLst/>
                        </a:rPr>
                        <a:t>Example-value</a:t>
                      </a:r>
                      <a:endParaRPr lang="en-GB" sz="1600" b="1" i="0" u="none" strike="noStrike" dirty="0">
                        <a:solidFill>
                          <a:srgbClr val="000000"/>
                        </a:solidFill>
                        <a:effectLst/>
                        <a:latin typeface="Calibri" panose="020F0502020204030204" pitchFamily="34" charset="0"/>
                      </a:endParaRPr>
                    </a:p>
                  </a:txBody>
                  <a:tcPr marL="8156" marR="8156" marT="8156" marB="0" anchor="b"/>
                </a:tc>
                <a:extLst>
                  <a:ext uri="{0D108BD9-81ED-4DB2-BD59-A6C34878D82A}">
                    <a16:rowId xmlns:a16="http://schemas.microsoft.com/office/drawing/2014/main" val="47350771"/>
                  </a:ext>
                </a:extLst>
              </a:tr>
              <a:tr h="293542">
                <a:tc>
                  <a:txBody>
                    <a:bodyPr/>
                    <a:lstStyle/>
                    <a:p>
                      <a:pPr algn="l" fontAlgn="b"/>
                      <a:r>
                        <a:rPr lang="en-GB" sz="1600" u="none" strike="noStrike">
                          <a:effectLst/>
                        </a:rPr>
                        <a:t>EducationLevelID</a:t>
                      </a:r>
                      <a:endParaRPr lang="en-GB" sz="16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600" u="none" strike="noStrike">
                          <a:effectLst/>
                        </a:rPr>
                        <a:t>Integer</a:t>
                      </a:r>
                      <a:endParaRPr lang="en-GB" sz="16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600" u="none" strike="noStrike">
                          <a:effectLst/>
                        </a:rPr>
                        <a:t>Education numeric code (1–5) used in the Employee table.</a:t>
                      </a:r>
                      <a:endParaRPr lang="en-GB" sz="16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600" u="none" strike="noStrike" dirty="0">
                          <a:effectLst/>
                        </a:rPr>
                        <a:t> 1–5</a:t>
                      </a:r>
                      <a:endParaRPr lang="en-GB" sz="1600" b="0" i="0" u="none" strike="noStrike" dirty="0">
                        <a:solidFill>
                          <a:srgbClr val="000000"/>
                        </a:solidFill>
                        <a:effectLst/>
                        <a:latin typeface="Times New Roman" panose="02020603050405020304" pitchFamily="18" charset="0"/>
                      </a:endParaRPr>
                    </a:p>
                  </a:txBody>
                  <a:tcPr marL="8156" marR="8156" marT="8156" marB="0" anchor="b"/>
                </a:tc>
                <a:extLst>
                  <a:ext uri="{0D108BD9-81ED-4DB2-BD59-A6C34878D82A}">
                    <a16:rowId xmlns:a16="http://schemas.microsoft.com/office/drawing/2014/main" val="213958242"/>
                  </a:ext>
                </a:extLst>
              </a:tr>
              <a:tr h="293542">
                <a:tc>
                  <a:txBody>
                    <a:bodyPr/>
                    <a:lstStyle/>
                    <a:p>
                      <a:pPr algn="l" fontAlgn="b"/>
                      <a:r>
                        <a:rPr lang="en-GB" sz="1600" u="none" strike="noStrike">
                          <a:effectLst/>
                        </a:rPr>
                        <a:t>EducationLevel</a:t>
                      </a:r>
                      <a:endParaRPr lang="en-GB" sz="16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600" u="none" strike="noStrike">
                          <a:effectLst/>
                        </a:rPr>
                        <a:t>String</a:t>
                      </a:r>
                      <a:endParaRPr lang="en-GB" sz="16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600" u="none" strike="noStrike">
                          <a:effectLst/>
                        </a:rPr>
                        <a:t>The formal qualification name </a:t>
                      </a:r>
                      <a:endParaRPr lang="en-GB" sz="1600" b="0" i="0" u="none" strike="noStrike">
                        <a:solidFill>
                          <a:srgbClr val="000000"/>
                        </a:solidFill>
                        <a:effectLst/>
                        <a:latin typeface="Times New Roman" panose="02020603050405020304" pitchFamily="18" charset="0"/>
                      </a:endParaRPr>
                    </a:p>
                  </a:txBody>
                  <a:tcPr marL="8156" marR="8156" marT="8156" marB="0" anchor="b"/>
                </a:tc>
                <a:tc>
                  <a:txBody>
                    <a:bodyPr/>
                    <a:lstStyle/>
                    <a:p>
                      <a:pPr algn="l" fontAlgn="b"/>
                      <a:r>
                        <a:rPr lang="en-GB" sz="1600" u="none" strike="noStrike" dirty="0">
                          <a:effectLst/>
                        </a:rPr>
                        <a:t>Bachelors, Masters, Doctorate</a:t>
                      </a:r>
                      <a:endParaRPr lang="en-GB" sz="1600" b="0" i="0" u="none" strike="noStrike" dirty="0">
                        <a:solidFill>
                          <a:srgbClr val="000000"/>
                        </a:solidFill>
                        <a:effectLst/>
                        <a:latin typeface="Times New Roman" panose="02020603050405020304" pitchFamily="18" charset="0"/>
                      </a:endParaRPr>
                    </a:p>
                  </a:txBody>
                  <a:tcPr marL="8156" marR="8156" marT="8156" marB="0" anchor="b"/>
                </a:tc>
                <a:extLst>
                  <a:ext uri="{0D108BD9-81ED-4DB2-BD59-A6C34878D82A}">
                    <a16:rowId xmlns:a16="http://schemas.microsoft.com/office/drawing/2014/main" val="2354367238"/>
                  </a:ext>
                </a:extLst>
              </a:tr>
            </a:tbl>
          </a:graphicData>
        </a:graphic>
      </p:graphicFrame>
    </p:spTree>
    <p:extLst>
      <p:ext uri="{BB962C8B-B14F-4D97-AF65-F5344CB8AC3E}">
        <p14:creationId xmlns:p14="http://schemas.microsoft.com/office/powerpoint/2010/main" val="8590265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165" y="1"/>
            <a:ext cx="10515600" cy="755373"/>
          </a:xfrm>
        </p:spPr>
        <p:txBody>
          <a:bodyPr/>
          <a:lstStyle/>
          <a:p>
            <a:r>
              <a:rPr lang="en-GB" sz="3200" b="1" dirty="0"/>
              <a:t>Description </a:t>
            </a:r>
            <a:r>
              <a:rPr lang="en-GB" sz="3200" b="1" dirty="0" smtClean="0"/>
              <a:t>of data</a:t>
            </a:r>
            <a:endParaRPr lang="en-GB" sz="3200" b="1"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062782675"/>
              </p:ext>
            </p:extLst>
          </p:nvPr>
        </p:nvGraphicFramePr>
        <p:xfrm>
          <a:off x="477079" y="1083221"/>
          <a:ext cx="10827026" cy="2600325"/>
        </p:xfrm>
        <a:graphic>
          <a:graphicData uri="http://schemas.openxmlformats.org/drawingml/2006/table">
            <a:tbl>
              <a:tblPr>
                <a:tableStyleId>{5C22544A-7EE6-4342-B048-85BDC9FD1C3A}</a:tableStyleId>
              </a:tblPr>
              <a:tblGrid>
                <a:gridCol w="887895">
                  <a:extLst>
                    <a:ext uri="{9D8B030D-6E8A-4147-A177-3AD203B41FA5}">
                      <a16:colId xmlns:a16="http://schemas.microsoft.com/office/drawing/2014/main" val="2717672125"/>
                    </a:ext>
                  </a:extLst>
                </a:gridCol>
                <a:gridCol w="887896">
                  <a:extLst>
                    <a:ext uri="{9D8B030D-6E8A-4147-A177-3AD203B41FA5}">
                      <a16:colId xmlns:a16="http://schemas.microsoft.com/office/drawing/2014/main" val="28696968"/>
                    </a:ext>
                  </a:extLst>
                </a:gridCol>
                <a:gridCol w="1510747">
                  <a:extLst>
                    <a:ext uri="{9D8B030D-6E8A-4147-A177-3AD203B41FA5}">
                      <a16:colId xmlns:a16="http://schemas.microsoft.com/office/drawing/2014/main" val="3237833191"/>
                    </a:ext>
                  </a:extLst>
                </a:gridCol>
                <a:gridCol w="1245705">
                  <a:extLst>
                    <a:ext uri="{9D8B030D-6E8A-4147-A177-3AD203B41FA5}">
                      <a16:colId xmlns:a16="http://schemas.microsoft.com/office/drawing/2014/main" val="1456843217"/>
                    </a:ext>
                  </a:extLst>
                </a:gridCol>
                <a:gridCol w="1033669">
                  <a:extLst>
                    <a:ext uri="{9D8B030D-6E8A-4147-A177-3AD203B41FA5}">
                      <a16:colId xmlns:a16="http://schemas.microsoft.com/office/drawing/2014/main" val="4186622205"/>
                    </a:ext>
                  </a:extLst>
                </a:gridCol>
                <a:gridCol w="993913">
                  <a:extLst>
                    <a:ext uri="{9D8B030D-6E8A-4147-A177-3AD203B41FA5}">
                      <a16:colId xmlns:a16="http://schemas.microsoft.com/office/drawing/2014/main" val="385482210"/>
                    </a:ext>
                  </a:extLst>
                </a:gridCol>
                <a:gridCol w="1342283">
                  <a:extLst>
                    <a:ext uri="{9D8B030D-6E8A-4147-A177-3AD203B41FA5}">
                      <a16:colId xmlns:a16="http://schemas.microsoft.com/office/drawing/2014/main" val="4218508999"/>
                    </a:ext>
                  </a:extLst>
                </a:gridCol>
                <a:gridCol w="1400917">
                  <a:extLst>
                    <a:ext uri="{9D8B030D-6E8A-4147-A177-3AD203B41FA5}">
                      <a16:colId xmlns:a16="http://schemas.microsoft.com/office/drawing/2014/main" val="2554280602"/>
                    </a:ext>
                  </a:extLst>
                </a:gridCol>
                <a:gridCol w="1524001">
                  <a:extLst>
                    <a:ext uri="{9D8B030D-6E8A-4147-A177-3AD203B41FA5}">
                      <a16:colId xmlns:a16="http://schemas.microsoft.com/office/drawing/2014/main" val="2276989978"/>
                    </a:ext>
                  </a:extLst>
                </a:gridCol>
              </a:tblGrid>
              <a:tr h="421260">
                <a:tc>
                  <a:txBody>
                    <a:bodyPr/>
                    <a:lstStyle/>
                    <a:p>
                      <a:pPr algn="l" fontAlgn="b"/>
                      <a:r>
                        <a:rPr lang="en-GB" sz="1500" b="1" u="none" strike="noStrike" dirty="0">
                          <a:effectLst/>
                        </a:rPr>
                        <a:t> </a:t>
                      </a:r>
                      <a:endParaRPr lang="en-GB" sz="15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b="1" u="none" strike="noStrike" dirty="0">
                          <a:effectLst/>
                        </a:rPr>
                        <a:t>Age</a:t>
                      </a:r>
                      <a:endParaRPr lang="en-GB" sz="15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b="1" u="none" strike="noStrike" dirty="0">
                          <a:effectLst/>
                        </a:rPr>
                        <a:t>Distance From Home (KM)</a:t>
                      </a:r>
                      <a:endParaRPr lang="en-GB" sz="15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b="1" u="none" strike="noStrike" dirty="0">
                          <a:effectLst/>
                        </a:rPr>
                        <a:t>Salary (USD)</a:t>
                      </a:r>
                      <a:endParaRPr lang="en-GB" sz="15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b="1" u="none" strike="noStrike">
                          <a:effectLst/>
                        </a:rPr>
                        <a:t>Stock Option Level</a:t>
                      </a:r>
                      <a:endParaRPr lang="en-GB" sz="15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b="1" u="none" strike="noStrike">
                          <a:effectLst/>
                        </a:rPr>
                        <a:t>Years At Company</a:t>
                      </a:r>
                      <a:endParaRPr lang="en-GB" sz="15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b="1" u="none" strike="noStrike">
                          <a:effectLst/>
                        </a:rPr>
                        <a:t>Years In Most Recent Role</a:t>
                      </a:r>
                      <a:endParaRPr lang="en-GB" sz="15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b="1" u="none" strike="noStrike">
                          <a:effectLst/>
                        </a:rPr>
                        <a:t>Years Since Last Promotion</a:t>
                      </a:r>
                      <a:endParaRPr lang="en-GB" sz="15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b="1" u="none" strike="noStrike" dirty="0">
                          <a:effectLst/>
                        </a:rPr>
                        <a:t>Years With Current Manager</a:t>
                      </a:r>
                      <a:endParaRPr lang="en-GB" sz="15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43536642"/>
                  </a:ext>
                </a:extLst>
              </a:tr>
              <a:tr h="210630">
                <a:tc>
                  <a:txBody>
                    <a:bodyPr/>
                    <a:lstStyle/>
                    <a:p>
                      <a:pPr algn="l" fontAlgn="ctr"/>
                      <a:r>
                        <a:rPr lang="en-GB" sz="1500" u="none" strike="noStrike">
                          <a:effectLst/>
                        </a:rPr>
                        <a:t>Count</a:t>
                      </a:r>
                      <a:endParaRPr lang="en-GB" sz="1500" b="0" i="0" u="none" strike="noStrike">
                        <a:solidFill>
                          <a:srgbClr val="000000"/>
                        </a:solidFill>
                        <a:effectLst/>
                        <a:latin typeface="Arial Unicode MS"/>
                      </a:endParaRPr>
                    </a:p>
                  </a:txBody>
                  <a:tcPr marL="9525" marR="9525" marT="9525" marB="0" anchor="ctr"/>
                </a:tc>
                <a:tc>
                  <a:txBody>
                    <a:bodyPr/>
                    <a:lstStyle/>
                    <a:p>
                      <a:pPr algn="l" fontAlgn="b"/>
                      <a:r>
                        <a:rPr lang="en-GB" sz="1500" u="none" strike="noStrike" dirty="0">
                          <a:effectLst/>
                        </a:rPr>
                        <a:t>1470</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1470</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1470</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1470</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1470</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1470</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1470</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1470</a:t>
                      </a:r>
                      <a:endParaRPr lang="en-GB" sz="15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06401245"/>
                  </a:ext>
                </a:extLst>
              </a:tr>
              <a:tr h="210630">
                <a:tc>
                  <a:txBody>
                    <a:bodyPr/>
                    <a:lstStyle/>
                    <a:p>
                      <a:pPr algn="l" fontAlgn="ctr"/>
                      <a:r>
                        <a:rPr lang="en-GB" sz="1500" u="none" strike="noStrike">
                          <a:effectLst/>
                        </a:rPr>
                        <a:t>Mean</a:t>
                      </a:r>
                      <a:endParaRPr lang="en-GB" sz="1500" b="0" i="0" u="none" strike="noStrike">
                        <a:solidFill>
                          <a:srgbClr val="000000"/>
                        </a:solidFill>
                        <a:effectLst/>
                        <a:latin typeface="Arial Unicode MS"/>
                      </a:endParaRPr>
                    </a:p>
                  </a:txBody>
                  <a:tcPr marL="9525" marR="9525" marT="9525" marB="0" anchor="ctr"/>
                </a:tc>
                <a:tc>
                  <a:txBody>
                    <a:bodyPr/>
                    <a:lstStyle/>
                    <a:p>
                      <a:pPr algn="l" fontAlgn="b"/>
                      <a:r>
                        <a:rPr lang="en-GB" sz="1500" u="none" strike="noStrike" dirty="0">
                          <a:effectLst/>
                        </a:rPr>
                        <a:t>28.989796</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22.502721</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112956.498</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0.793878</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4.562585</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2.293197</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3.440816</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2.239456</a:t>
                      </a:r>
                      <a:endParaRPr lang="en-GB" sz="15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07485138"/>
                  </a:ext>
                </a:extLst>
              </a:tr>
              <a:tr h="210630">
                <a:tc>
                  <a:txBody>
                    <a:bodyPr/>
                    <a:lstStyle/>
                    <a:p>
                      <a:pPr algn="l" fontAlgn="ctr"/>
                      <a:r>
                        <a:rPr lang="en-GB" sz="1500" u="none" strike="noStrike">
                          <a:effectLst/>
                        </a:rPr>
                        <a:t>Standard deviation</a:t>
                      </a:r>
                      <a:endParaRPr lang="en-GB" sz="1500" b="0" i="0" u="none" strike="noStrike">
                        <a:solidFill>
                          <a:srgbClr val="000000"/>
                        </a:solidFill>
                        <a:effectLst/>
                        <a:latin typeface="Arial Unicode MS"/>
                      </a:endParaRPr>
                    </a:p>
                  </a:txBody>
                  <a:tcPr marL="9525" marR="9525" marT="9525" marB="0" anchor="ctr"/>
                </a:tc>
                <a:tc>
                  <a:txBody>
                    <a:bodyPr/>
                    <a:lstStyle/>
                    <a:p>
                      <a:pPr algn="l" fontAlgn="b"/>
                      <a:r>
                        <a:rPr lang="en-GB" sz="1500" u="none" strike="noStrike">
                          <a:effectLst/>
                        </a:rPr>
                        <a:t>7.993055</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12.811124</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103342.8892</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0.852077</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3.288048</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2.539093</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2.945194</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2.505774</a:t>
                      </a:r>
                      <a:endParaRPr lang="en-GB" sz="15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74779882"/>
                  </a:ext>
                </a:extLst>
              </a:tr>
              <a:tr h="210630">
                <a:tc>
                  <a:txBody>
                    <a:bodyPr/>
                    <a:lstStyle/>
                    <a:p>
                      <a:pPr algn="l" fontAlgn="ctr"/>
                      <a:r>
                        <a:rPr lang="en-GB" sz="1500" u="none" strike="noStrike">
                          <a:effectLst/>
                        </a:rPr>
                        <a:t>Min</a:t>
                      </a:r>
                      <a:endParaRPr lang="en-GB" sz="1500" b="0" i="0" u="none" strike="noStrike">
                        <a:solidFill>
                          <a:srgbClr val="000000"/>
                        </a:solidFill>
                        <a:effectLst/>
                        <a:latin typeface="Arial Unicode MS"/>
                      </a:endParaRPr>
                    </a:p>
                  </a:txBody>
                  <a:tcPr marL="9525" marR="9525" marT="9525" marB="0" anchor="ctr"/>
                </a:tc>
                <a:tc>
                  <a:txBody>
                    <a:bodyPr/>
                    <a:lstStyle/>
                    <a:p>
                      <a:pPr algn="l" fontAlgn="b"/>
                      <a:r>
                        <a:rPr lang="en-GB" sz="1500" u="none" strike="noStrike">
                          <a:effectLst/>
                        </a:rPr>
                        <a:t>18</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1</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20387</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0</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0</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0</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0</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0</a:t>
                      </a:r>
                      <a:endParaRPr lang="en-GB" sz="15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32524263"/>
                  </a:ext>
                </a:extLst>
              </a:tr>
              <a:tr h="210630">
                <a:tc>
                  <a:txBody>
                    <a:bodyPr/>
                    <a:lstStyle/>
                    <a:p>
                      <a:pPr algn="l" fontAlgn="ctr"/>
                      <a:r>
                        <a:rPr lang="en-GB" sz="1500" u="none" strike="noStrike">
                          <a:effectLst/>
                        </a:rPr>
                        <a:t>25%</a:t>
                      </a:r>
                      <a:endParaRPr lang="en-GB" sz="1500" b="0" i="0" u="none" strike="noStrike">
                        <a:solidFill>
                          <a:srgbClr val="000000"/>
                        </a:solidFill>
                        <a:effectLst/>
                        <a:latin typeface="Arial Unicode MS"/>
                      </a:endParaRPr>
                    </a:p>
                  </a:txBody>
                  <a:tcPr marL="9525" marR="9525" marT="9525" marB="0" anchor="ctr"/>
                </a:tc>
                <a:tc>
                  <a:txBody>
                    <a:bodyPr/>
                    <a:lstStyle/>
                    <a:p>
                      <a:pPr algn="l" fontAlgn="b"/>
                      <a:r>
                        <a:rPr lang="en-GB" sz="1500" u="none" strike="noStrike">
                          <a:effectLst/>
                        </a:rPr>
                        <a:t>23</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12</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43580.5</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0</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2</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0</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1</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0</a:t>
                      </a:r>
                      <a:endParaRPr lang="en-GB" sz="15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76953907"/>
                  </a:ext>
                </a:extLst>
              </a:tr>
              <a:tr h="210630">
                <a:tc>
                  <a:txBody>
                    <a:bodyPr/>
                    <a:lstStyle/>
                    <a:p>
                      <a:pPr algn="l" fontAlgn="ctr"/>
                      <a:r>
                        <a:rPr lang="en-GB" sz="1500" u="none" strike="noStrike" dirty="0">
                          <a:effectLst/>
                        </a:rPr>
                        <a:t>50%</a:t>
                      </a:r>
                      <a:endParaRPr lang="en-GB" sz="1500" b="0" i="0" u="none" strike="noStrike" dirty="0">
                        <a:solidFill>
                          <a:srgbClr val="000000"/>
                        </a:solidFill>
                        <a:effectLst/>
                        <a:latin typeface="Arial Unicode MS"/>
                      </a:endParaRPr>
                    </a:p>
                  </a:txBody>
                  <a:tcPr marL="9525" marR="9525" marT="9525" marB="0" anchor="ctr"/>
                </a:tc>
                <a:tc>
                  <a:txBody>
                    <a:bodyPr/>
                    <a:lstStyle/>
                    <a:p>
                      <a:pPr algn="l" fontAlgn="b"/>
                      <a:r>
                        <a:rPr lang="en-GB" sz="1500" u="none" strike="noStrike">
                          <a:effectLst/>
                        </a:rPr>
                        <a:t>26</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22</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71199.5</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1</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4</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1</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3</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1</a:t>
                      </a:r>
                      <a:endParaRPr lang="en-GB" sz="15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43264969"/>
                  </a:ext>
                </a:extLst>
              </a:tr>
              <a:tr h="210630">
                <a:tc>
                  <a:txBody>
                    <a:bodyPr/>
                    <a:lstStyle/>
                    <a:p>
                      <a:pPr algn="l" fontAlgn="ctr"/>
                      <a:r>
                        <a:rPr lang="en-GB" sz="1500" u="none" strike="noStrike">
                          <a:effectLst/>
                        </a:rPr>
                        <a:t>75%</a:t>
                      </a:r>
                      <a:endParaRPr lang="en-GB" sz="1500" b="0" i="0" u="none" strike="noStrike">
                        <a:solidFill>
                          <a:srgbClr val="000000"/>
                        </a:solidFill>
                        <a:effectLst/>
                        <a:latin typeface="Arial Unicode MS"/>
                      </a:endParaRPr>
                    </a:p>
                  </a:txBody>
                  <a:tcPr marL="9525" marR="9525" marT="9525" marB="0" anchor="ctr"/>
                </a:tc>
                <a:tc>
                  <a:txBody>
                    <a:bodyPr/>
                    <a:lstStyle/>
                    <a:p>
                      <a:pPr algn="l" fontAlgn="b"/>
                      <a:r>
                        <a:rPr lang="en-GB" sz="1500" u="none" strike="noStrike">
                          <a:effectLst/>
                        </a:rPr>
                        <a:t>34</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33</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142055.75</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1</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7</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4</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6</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4</a:t>
                      </a:r>
                      <a:endParaRPr lang="en-GB" sz="15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90766935"/>
                  </a:ext>
                </a:extLst>
              </a:tr>
              <a:tr h="210630">
                <a:tc>
                  <a:txBody>
                    <a:bodyPr/>
                    <a:lstStyle/>
                    <a:p>
                      <a:pPr algn="l" fontAlgn="ctr"/>
                      <a:r>
                        <a:rPr lang="en-GB" sz="1500" u="none" strike="noStrike" dirty="0">
                          <a:effectLst/>
                        </a:rPr>
                        <a:t>Max</a:t>
                      </a:r>
                      <a:endParaRPr lang="en-GB" sz="1500" b="0" i="0" u="none" strike="noStrike" dirty="0">
                        <a:solidFill>
                          <a:srgbClr val="000000"/>
                        </a:solidFill>
                        <a:effectLst/>
                        <a:latin typeface="Arial Unicode MS"/>
                      </a:endParaRPr>
                    </a:p>
                  </a:txBody>
                  <a:tcPr marL="9525" marR="9525" marT="9525" marB="0" anchor="ctr"/>
                </a:tc>
                <a:tc>
                  <a:txBody>
                    <a:bodyPr/>
                    <a:lstStyle/>
                    <a:p>
                      <a:pPr algn="l" fontAlgn="b"/>
                      <a:r>
                        <a:rPr lang="en-GB" sz="1500" u="none" strike="noStrike" dirty="0">
                          <a:effectLst/>
                        </a:rPr>
                        <a:t>51</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45</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547204</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3</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a:effectLst/>
                        </a:rPr>
                        <a:t>10</a:t>
                      </a:r>
                      <a:endParaRPr lang="en-GB" sz="15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10</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10</a:t>
                      </a:r>
                      <a:endParaRPr lang="en-GB" sz="15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500" u="none" strike="noStrike" dirty="0">
                          <a:effectLst/>
                        </a:rPr>
                        <a:t>10</a:t>
                      </a:r>
                      <a:endParaRPr lang="en-GB" sz="15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44421624"/>
                  </a:ext>
                </a:extLst>
              </a:tr>
            </a:tbl>
          </a:graphicData>
        </a:graphic>
      </p:graphicFrame>
      <p:sp>
        <p:nvSpPr>
          <p:cNvPr id="5" name="TextBox 4"/>
          <p:cNvSpPr txBox="1"/>
          <p:nvPr/>
        </p:nvSpPr>
        <p:spPr>
          <a:xfrm>
            <a:off x="485361" y="570708"/>
            <a:ext cx="3283226" cy="369332"/>
          </a:xfrm>
          <a:prstGeom prst="rect">
            <a:avLst/>
          </a:prstGeom>
          <a:noFill/>
        </p:spPr>
        <p:txBody>
          <a:bodyPr wrap="square" rtlCol="0">
            <a:spAutoFit/>
          </a:bodyPr>
          <a:lstStyle/>
          <a:p>
            <a:r>
              <a:rPr lang="en-GB" b="1" dirty="0"/>
              <a:t>Employee</a:t>
            </a:r>
            <a:r>
              <a:rPr lang="en-GB" b="1" dirty="0" smtClean="0"/>
              <a:t> data</a:t>
            </a:r>
            <a:endParaRPr lang="en-GB" b="1" dirty="0"/>
          </a:p>
        </p:txBody>
      </p:sp>
      <p:sp>
        <p:nvSpPr>
          <p:cNvPr id="8" name="TextBox 7"/>
          <p:cNvSpPr txBox="1"/>
          <p:nvPr/>
        </p:nvSpPr>
        <p:spPr>
          <a:xfrm>
            <a:off x="364436" y="3826727"/>
            <a:ext cx="2246242" cy="369332"/>
          </a:xfrm>
          <a:prstGeom prst="rect">
            <a:avLst/>
          </a:prstGeom>
          <a:noFill/>
        </p:spPr>
        <p:txBody>
          <a:bodyPr wrap="square" rtlCol="0">
            <a:spAutoFit/>
          </a:bodyPr>
          <a:lstStyle/>
          <a:p>
            <a:r>
              <a:rPr lang="en-GB" b="1" dirty="0" smtClean="0"/>
              <a:t>Performance rating</a:t>
            </a:r>
            <a:endParaRPr lang="en-GB" b="1" dirty="0"/>
          </a:p>
        </p:txBody>
      </p:sp>
      <p:graphicFrame>
        <p:nvGraphicFramePr>
          <p:cNvPr id="10" name="Content Placeholder 3"/>
          <p:cNvGraphicFramePr>
            <a:graphicFrameLocks/>
          </p:cNvGraphicFramePr>
          <p:nvPr>
            <p:extLst>
              <p:ext uri="{D42A27DB-BD31-4B8C-83A1-F6EECF244321}">
                <p14:modId xmlns:p14="http://schemas.microsoft.com/office/powerpoint/2010/main" val="2896098834"/>
              </p:ext>
            </p:extLst>
          </p:nvPr>
        </p:nvGraphicFramePr>
        <p:xfrm>
          <a:off x="485361" y="4175760"/>
          <a:ext cx="10818744" cy="2682240"/>
        </p:xfrm>
        <a:graphic>
          <a:graphicData uri="http://schemas.openxmlformats.org/drawingml/2006/table">
            <a:tbl>
              <a:tblPr>
                <a:tableStyleId>{5C22544A-7EE6-4342-B048-85BDC9FD1C3A}</a:tableStyleId>
              </a:tblPr>
              <a:tblGrid>
                <a:gridCol w="1436204">
                  <a:extLst>
                    <a:ext uri="{9D8B030D-6E8A-4147-A177-3AD203B41FA5}">
                      <a16:colId xmlns:a16="http://schemas.microsoft.com/office/drawing/2014/main" val="3558847470"/>
                    </a:ext>
                  </a:extLst>
                </a:gridCol>
                <a:gridCol w="2141858">
                  <a:extLst>
                    <a:ext uri="{9D8B030D-6E8A-4147-A177-3AD203B41FA5}">
                      <a16:colId xmlns:a16="http://schemas.microsoft.com/office/drawing/2014/main" val="3156468984"/>
                    </a:ext>
                  </a:extLst>
                </a:gridCol>
                <a:gridCol w="2310873">
                  <a:extLst>
                    <a:ext uri="{9D8B030D-6E8A-4147-A177-3AD203B41FA5}">
                      <a16:colId xmlns:a16="http://schemas.microsoft.com/office/drawing/2014/main" val="2632406037"/>
                    </a:ext>
                  </a:extLst>
                </a:gridCol>
                <a:gridCol w="2241835">
                  <a:extLst>
                    <a:ext uri="{9D8B030D-6E8A-4147-A177-3AD203B41FA5}">
                      <a16:colId xmlns:a16="http://schemas.microsoft.com/office/drawing/2014/main" val="940190708"/>
                    </a:ext>
                  </a:extLst>
                </a:gridCol>
                <a:gridCol w="2687974">
                  <a:extLst>
                    <a:ext uri="{9D8B030D-6E8A-4147-A177-3AD203B41FA5}">
                      <a16:colId xmlns:a16="http://schemas.microsoft.com/office/drawing/2014/main" val="1931136880"/>
                    </a:ext>
                  </a:extLst>
                </a:gridCol>
              </a:tblGrid>
              <a:tr h="469609">
                <a:tc>
                  <a:txBody>
                    <a:bodyPr/>
                    <a:lstStyle/>
                    <a:p>
                      <a:pPr algn="l" fontAlgn="ctr"/>
                      <a:r>
                        <a:rPr lang="en-GB" sz="1600" u="none" strike="noStrike" dirty="0">
                          <a:effectLst/>
                        </a:rPr>
                        <a:t> </a:t>
                      </a:r>
                      <a:endParaRPr lang="en-GB" sz="1600" b="1"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r>
                        <a:rPr lang="en-GB" sz="1600" b="1" u="none" strike="noStrike" dirty="0">
                          <a:effectLst/>
                        </a:rPr>
                        <a:t>Training Opportunities Within Year</a:t>
                      </a:r>
                      <a:endParaRPr lang="en-GB" sz="1600" b="1"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r>
                        <a:rPr lang="en-GB" sz="1600" b="1" u="none" strike="noStrike" dirty="0">
                          <a:effectLst/>
                        </a:rPr>
                        <a:t>Training Opportunities Taken</a:t>
                      </a:r>
                      <a:endParaRPr lang="en-GB" sz="1600" b="1"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r>
                        <a:rPr lang="en-GB" sz="1600" b="1" u="none" strike="noStrike" dirty="0">
                          <a:effectLst/>
                        </a:rPr>
                        <a:t>Self Rating ID</a:t>
                      </a:r>
                      <a:endParaRPr lang="en-GB" sz="1600" b="1"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r>
                        <a:rPr lang="en-GB" sz="1600" b="1" u="none" strike="noStrike" dirty="0">
                          <a:effectLst/>
                        </a:rPr>
                        <a:t>Manager Rating ID</a:t>
                      </a:r>
                      <a:endParaRPr lang="en-GB" sz="160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668619204"/>
                  </a:ext>
                </a:extLst>
              </a:tr>
              <a:tr h="234804">
                <a:tc>
                  <a:txBody>
                    <a:bodyPr/>
                    <a:lstStyle/>
                    <a:p>
                      <a:pPr algn="l" fontAlgn="ctr"/>
                      <a:r>
                        <a:rPr lang="en-GB" sz="1600" u="none" strike="noStrike" dirty="0">
                          <a:effectLst/>
                        </a:rPr>
                        <a:t>Count</a:t>
                      </a:r>
                      <a:endParaRPr lang="en-GB" sz="1600" b="0" i="0" u="none" strike="noStrike" dirty="0">
                        <a:solidFill>
                          <a:srgbClr val="000000"/>
                        </a:solidFill>
                        <a:effectLst/>
                        <a:latin typeface="Arial Unicode MS"/>
                      </a:endParaRPr>
                    </a:p>
                  </a:txBody>
                  <a:tcPr marL="0" marR="0" marT="0" marB="0" anchor="ctr"/>
                </a:tc>
                <a:tc>
                  <a:txBody>
                    <a:bodyPr/>
                    <a:lstStyle/>
                    <a:p>
                      <a:pPr algn="l" fontAlgn="ctr"/>
                      <a:r>
                        <a:rPr lang="en-GB" sz="1600" u="none" strike="noStrike" dirty="0">
                          <a:effectLst/>
                        </a:rPr>
                        <a:t>6709</a:t>
                      </a:r>
                      <a:endParaRPr lang="en-GB" sz="1600" b="0"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dirty="0">
                          <a:effectLst/>
                        </a:rPr>
                        <a:t>6709</a:t>
                      </a:r>
                      <a:endParaRPr lang="en-GB" sz="1600" b="0"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a:effectLst/>
                        </a:rPr>
                        <a:t>6709</a:t>
                      </a:r>
                      <a:endParaRPr lang="en-GB" sz="1600" b="0" i="0" u="none" strike="noStrike">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a:effectLst/>
                        </a:rPr>
                        <a:t>6709</a:t>
                      </a:r>
                      <a:endParaRPr lang="en-GB" sz="1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283848850"/>
                  </a:ext>
                </a:extLst>
              </a:tr>
              <a:tr h="234804">
                <a:tc>
                  <a:txBody>
                    <a:bodyPr/>
                    <a:lstStyle/>
                    <a:p>
                      <a:pPr algn="l" fontAlgn="ctr"/>
                      <a:r>
                        <a:rPr lang="en-GB" sz="1600" u="none" strike="noStrike">
                          <a:effectLst/>
                        </a:rPr>
                        <a:t>Mean</a:t>
                      </a:r>
                      <a:endParaRPr lang="en-GB" sz="1600" b="0" i="0" u="none" strike="noStrike">
                        <a:solidFill>
                          <a:srgbClr val="000000"/>
                        </a:solidFill>
                        <a:effectLst/>
                        <a:latin typeface="Arial Unicode MS"/>
                      </a:endParaRPr>
                    </a:p>
                  </a:txBody>
                  <a:tcPr marL="0" marR="0" marT="0" marB="0" anchor="ctr"/>
                </a:tc>
                <a:tc>
                  <a:txBody>
                    <a:bodyPr/>
                    <a:lstStyle/>
                    <a:p>
                      <a:pPr algn="l" fontAlgn="ctr"/>
                      <a:r>
                        <a:rPr lang="en-GB" sz="1600" u="none" strike="noStrike" dirty="0">
                          <a:effectLst/>
                        </a:rPr>
                        <a:t>2.012968</a:t>
                      </a:r>
                      <a:endParaRPr lang="en-GB" sz="1600" b="0"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dirty="0">
                          <a:effectLst/>
                        </a:rPr>
                        <a:t>1.01729</a:t>
                      </a:r>
                      <a:endParaRPr lang="en-GB" sz="1600" b="0"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a:effectLst/>
                        </a:rPr>
                        <a:t>3.984051</a:t>
                      </a:r>
                      <a:endParaRPr lang="en-GB" sz="1600" b="0" i="0" u="none" strike="noStrike">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a:effectLst/>
                        </a:rPr>
                        <a:t>3.473394</a:t>
                      </a:r>
                      <a:endParaRPr lang="en-GB" sz="1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970044912"/>
                  </a:ext>
                </a:extLst>
              </a:tr>
              <a:tr h="469609">
                <a:tc>
                  <a:txBody>
                    <a:bodyPr/>
                    <a:lstStyle/>
                    <a:p>
                      <a:pPr algn="l" fontAlgn="ctr"/>
                      <a:r>
                        <a:rPr lang="en-GB" sz="1600" u="none" strike="noStrike" dirty="0">
                          <a:effectLst/>
                        </a:rPr>
                        <a:t>Standard deviation</a:t>
                      </a:r>
                      <a:endParaRPr lang="en-GB" sz="1600" b="0" i="0" u="none" strike="noStrike" dirty="0">
                        <a:solidFill>
                          <a:srgbClr val="000000"/>
                        </a:solidFill>
                        <a:effectLst/>
                        <a:latin typeface="Arial Unicode MS"/>
                      </a:endParaRPr>
                    </a:p>
                  </a:txBody>
                  <a:tcPr marL="0" marR="0" marT="0" marB="0" anchor="ctr"/>
                </a:tc>
                <a:tc>
                  <a:txBody>
                    <a:bodyPr/>
                    <a:lstStyle/>
                    <a:p>
                      <a:pPr algn="l" fontAlgn="ctr"/>
                      <a:r>
                        <a:rPr lang="en-GB" sz="1600" u="none" strike="noStrike" dirty="0">
                          <a:effectLst/>
                        </a:rPr>
                        <a:t>0.82031</a:t>
                      </a:r>
                      <a:endParaRPr lang="en-GB" sz="1600" b="0"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dirty="0">
                          <a:effectLst/>
                        </a:rPr>
                        <a:t>0.950316</a:t>
                      </a:r>
                      <a:endParaRPr lang="en-GB" sz="1600" b="0"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dirty="0">
                          <a:effectLst/>
                        </a:rPr>
                        <a:t>0.816432</a:t>
                      </a:r>
                      <a:endParaRPr lang="en-GB" sz="1600" b="0"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a:effectLst/>
                        </a:rPr>
                        <a:t>0.961738</a:t>
                      </a:r>
                      <a:endParaRPr lang="en-GB" sz="1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799352059"/>
                  </a:ext>
                </a:extLst>
              </a:tr>
              <a:tr h="234804">
                <a:tc>
                  <a:txBody>
                    <a:bodyPr/>
                    <a:lstStyle/>
                    <a:p>
                      <a:pPr algn="l" fontAlgn="ctr"/>
                      <a:r>
                        <a:rPr lang="en-GB" sz="1600" u="none" strike="noStrike">
                          <a:effectLst/>
                        </a:rPr>
                        <a:t>Min</a:t>
                      </a:r>
                      <a:endParaRPr lang="en-GB" sz="1600" b="0" i="0" u="none" strike="noStrike">
                        <a:solidFill>
                          <a:srgbClr val="000000"/>
                        </a:solidFill>
                        <a:effectLst/>
                        <a:latin typeface="Arial Unicode MS"/>
                      </a:endParaRPr>
                    </a:p>
                  </a:txBody>
                  <a:tcPr marL="0" marR="0" marT="0" marB="0" anchor="ctr"/>
                </a:tc>
                <a:tc>
                  <a:txBody>
                    <a:bodyPr/>
                    <a:lstStyle/>
                    <a:p>
                      <a:pPr algn="l" fontAlgn="ctr"/>
                      <a:r>
                        <a:rPr lang="en-GB" sz="1600" u="none" strike="noStrike">
                          <a:effectLst/>
                        </a:rPr>
                        <a:t>1</a:t>
                      </a:r>
                      <a:endParaRPr lang="en-GB" sz="1600" b="0" i="0" u="none" strike="noStrike">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dirty="0">
                          <a:effectLst/>
                        </a:rPr>
                        <a:t>0</a:t>
                      </a:r>
                      <a:endParaRPr lang="en-GB" sz="1600" b="0"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dirty="0">
                          <a:effectLst/>
                        </a:rPr>
                        <a:t>3</a:t>
                      </a:r>
                      <a:endParaRPr lang="en-GB" sz="1600" b="0"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a:effectLst/>
                        </a:rPr>
                        <a:t>2</a:t>
                      </a:r>
                      <a:endParaRPr lang="en-GB" sz="1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849188849"/>
                  </a:ext>
                </a:extLst>
              </a:tr>
              <a:tr h="234804">
                <a:tc>
                  <a:txBody>
                    <a:bodyPr/>
                    <a:lstStyle/>
                    <a:p>
                      <a:pPr algn="l" fontAlgn="ctr"/>
                      <a:r>
                        <a:rPr lang="en-GB" sz="1600" u="none" strike="noStrike">
                          <a:effectLst/>
                        </a:rPr>
                        <a:t>25%</a:t>
                      </a:r>
                      <a:endParaRPr lang="en-GB" sz="1600" b="0" i="0" u="none" strike="noStrike">
                        <a:solidFill>
                          <a:srgbClr val="000000"/>
                        </a:solidFill>
                        <a:effectLst/>
                        <a:latin typeface="Arial Unicode MS"/>
                      </a:endParaRPr>
                    </a:p>
                  </a:txBody>
                  <a:tcPr marL="0" marR="0" marT="0" marB="0" anchor="ctr"/>
                </a:tc>
                <a:tc>
                  <a:txBody>
                    <a:bodyPr/>
                    <a:lstStyle/>
                    <a:p>
                      <a:pPr algn="l" fontAlgn="ctr"/>
                      <a:r>
                        <a:rPr lang="en-GB" sz="1600" u="none" strike="noStrike">
                          <a:effectLst/>
                        </a:rPr>
                        <a:t>1</a:t>
                      </a:r>
                      <a:endParaRPr lang="en-GB" sz="1600" b="0" i="0" u="none" strike="noStrike">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dirty="0">
                          <a:effectLst/>
                        </a:rPr>
                        <a:t>0</a:t>
                      </a:r>
                      <a:endParaRPr lang="en-GB" sz="1600" b="0"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dirty="0">
                          <a:effectLst/>
                        </a:rPr>
                        <a:t>3</a:t>
                      </a:r>
                      <a:endParaRPr lang="en-GB" sz="1600" b="0"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dirty="0">
                          <a:effectLst/>
                        </a:rPr>
                        <a:t>3</a:t>
                      </a:r>
                      <a:endParaRPr lang="en-GB" sz="16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922209218"/>
                  </a:ext>
                </a:extLst>
              </a:tr>
              <a:tr h="234804">
                <a:tc>
                  <a:txBody>
                    <a:bodyPr/>
                    <a:lstStyle/>
                    <a:p>
                      <a:pPr algn="l" fontAlgn="ctr"/>
                      <a:r>
                        <a:rPr lang="en-GB" sz="1600" u="none" strike="noStrike">
                          <a:effectLst/>
                        </a:rPr>
                        <a:t>50%</a:t>
                      </a:r>
                      <a:endParaRPr lang="en-GB" sz="1600" b="0" i="0" u="none" strike="noStrike">
                        <a:solidFill>
                          <a:srgbClr val="000000"/>
                        </a:solidFill>
                        <a:effectLst/>
                        <a:latin typeface="Arial Unicode MS"/>
                      </a:endParaRPr>
                    </a:p>
                  </a:txBody>
                  <a:tcPr marL="0" marR="0" marT="0" marB="0" anchor="ctr"/>
                </a:tc>
                <a:tc>
                  <a:txBody>
                    <a:bodyPr/>
                    <a:lstStyle/>
                    <a:p>
                      <a:pPr algn="l" fontAlgn="ctr"/>
                      <a:r>
                        <a:rPr lang="en-GB" sz="1600" u="none" strike="noStrike">
                          <a:effectLst/>
                        </a:rPr>
                        <a:t>2</a:t>
                      </a:r>
                      <a:endParaRPr lang="en-GB" sz="1600" b="0" i="0" u="none" strike="noStrike">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dirty="0">
                          <a:effectLst/>
                        </a:rPr>
                        <a:t>1</a:t>
                      </a:r>
                      <a:endParaRPr lang="en-GB" sz="1600" b="0"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dirty="0">
                          <a:effectLst/>
                        </a:rPr>
                        <a:t>4</a:t>
                      </a:r>
                      <a:endParaRPr lang="en-GB" sz="1600" b="0" i="0" u="none" strike="noStrike" dirty="0">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dirty="0">
                          <a:effectLst/>
                        </a:rPr>
                        <a:t>3</a:t>
                      </a:r>
                      <a:endParaRPr lang="en-GB" sz="16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326449115"/>
                  </a:ext>
                </a:extLst>
              </a:tr>
              <a:tr h="234804">
                <a:tc>
                  <a:txBody>
                    <a:bodyPr/>
                    <a:lstStyle/>
                    <a:p>
                      <a:pPr algn="l" fontAlgn="ctr"/>
                      <a:r>
                        <a:rPr lang="en-GB" sz="1600" u="none" strike="noStrike">
                          <a:effectLst/>
                        </a:rPr>
                        <a:t>75%</a:t>
                      </a:r>
                      <a:endParaRPr lang="en-GB" sz="1600" b="0" i="0" u="none" strike="noStrike">
                        <a:solidFill>
                          <a:srgbClr val="000000"/>
                        </a:solidFill>
                        <a:effectLst/>
                        <a:latin typeface="Arial Unicode MS"/>
                      </a:endParaRPr>
                    </a:p>
                  </a:txBody>
                  <a:tcPr marL="0" marR="0" marT="0" marB="0" anchor="ctr"/>
                </a:tc>
                <a:tc>
                  <a:txBody>
                    <a:bodyPr/>
                    <a:lstStyle/>
                    <a:p>
                      <a:pPr algn="l" fontAlgn="ctr"/>
                      <a:r>
                        <a:rPr lang="en-GB" sz="1600" u="none" strike="noStrike">
                          <a:effectLst/>
                        </a:rPr>
                        <a:t>3</a:t>
                      </a:r>
                      <a:endParaRPr lang="en-GB" sz="1600" b="0" i="0" u="none" strike="noStrike">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a:effectLst/>
                        </a:rPr>
                        <a:t>2</a:t>
                      </a:r>
                      <a:endParaRPr lang="en-GB" sz="1600" b="0" i="0" u="none" strike="noStrike">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a:effectLst/>
                        </a:rPr>
                        <a:t>5</a:t>
                      </a:r>
                      <a:endParaRPr lang="en-GB" sz="1600" b="0" i="0" u="none" strike="noStrike">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dirty="0">
                          <a:effectLst/>
                        </a:rPr>
                        <a:t>4</a:t>
                      </a:r>
                      <a:endParaRPr lang="en-GB" sz="16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549873555"/>
                  </a:ext>
                </a:extLst>
              </a:tr>
              <a:tr h="234804">
                <a:tc>
                  <a:txBody>
                    <a:bodyPr/>
                    <a:lstStyle/>
                    <a:p>
                      <a:pPr algn="l" fontAlgn="ctr"/>
                      <a:r>
                        <a:rPr lang="en-GB" sz="1600" u="none" strike="noStrike" dirty="0">
                          <a:effectLst/>
                        </a:rPr>
                        <a:t>Max</a:t>
                      </a:r>
                      <a:endParaRPr lang="en-GB" sz="1600" b="0" i="0" u="none" strike="noStrike" dirty="0">
                        <a:solidFill>
                          <a:srgbClr val="000000"/>
                        </a:solidFill>
                        <a:effectLst/>
                        <a:latin typeface="Arial Unicode MS"/>
                      </a:endParaRPr>
                    </a:p>
                  </a:txBody>
                  <a:tcPr marL="0" marR="0" marT="0" marB="0" anchor="ctr"/>
                </a:tc>
                <a:tc>
                  <a:txBody>
                    <a:bodyPr/>
                    <a:lstStyle/>
                    <a:p>
                      <a:pPr algn="l" fontAlgn="ctr"/>
                      <a:r>
                        <a:rPr lang="en-GB" sz="1600" u="none" strike="noStrike">
                          <a:effectLst/>
                        </a:rPr>
                        <a:t>3</a:t>
                      </a:r>
                      <a:endParaRPr lang="en-GB" sz="1600" b="0" i="0" u="none" strike="noStrike">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a:effectLst/>
                        </a:rPr>
                        <a:t>3</a:t>
                      </a:r>
                      <a:endParaRPr lang="en-GB" sz="1600" b="0" i="0" u="none" strike="noStrike">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a:effectLst/>
                        </a:rPr>
                        <a:t>5</a:t>
                      </a:r>
                      <a:endParaRPr lang="en-GB" sz="1600" b="0" i="0" u="none" strike="noStrike">
                        <a:solidFill>
                          <a:srgbClr val="000000"/>
                        </a:solidFill>
                        <a:effectLst/>
                        <a:latin typeface="Calibri" panose="020F0502020204030204" pitchFamily="34" charset="0"/>
                      </a:endParaRPr>
                    </a:p>
                  </a:txBody>
                  <a:tcPr marL="0" marR="0" marT="0" marB="0" anchor="ctr"/>
                </a:tc>
                <a:tc>
                  <a:txBody>
                    <a:bodyPr/>
                    <a:lstStyle/>
                    <a:p>
                      <a:pPr algn="l" fontAlgn="ctr"/>
                      <a:r>
                        <a:rPr lang="en-GB" sz="1600" u="none" strike="noStrike" dirty="0">
                          <a:effectLst/>
                        </a:rPr>
                        <a:t>5 </a:t>
                      </a:r>
                      <a:endParaRPr lang="en-GB" sz="16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160912760"/>
                  </a:ext>
                </a:extLst>
              </a:tr>
            </a:tbl>
          </a:graphicData>
        </a:graphic>
      </p:graphicFrame>
    </p:spTree>
    <p:extLst>
      <p:ext uri="{BB962C8B-B14F-4D97-AF65-F5344CB8AC3E}">
        <p14:creationId xmlns:p14="http://schemas.microsoft.com/office/powerpoint/2010/main" val="37363285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r="13910" b="214"/>
          <a:stretch/>
        </p:blipFill>
        <p:spPr>
          <a:xfrm>
            <a:off x="7991168" y="708992"/>
            <a:ext cx="3630987" cy="4996069"/>
          </a:xfrm>
          <a:prstGeom prst="rect">
            <a:avLst/>
          </a:prstGeom>
          <a:ln>
            <a:solidFill>
              <a:schemeClr val="tx1"/>
            </a:solidFill>
          </a:ln>
        </p:spPr>
      </p:pic>
      <p:pic>
        <p:nvPicPr>
          <p:cNvPr id="8" name="Picture 7"/>
          <p:cNvPicPr>
            <a:picLocks noChangeAspect="1"/>
          </p:cNvPicPr>
          <p:nvPr/>
        </p:nvPicPr>
        <p:blipFill>
          <a:blip r:embed="rId3"/>
          <a:stretch>
            <a:fillRect/>
          </a:stretch>
        </p:blipFill>
        <p:spPr>
          <a:xfrm>
            <a:off x="10126521" y="4339848"/>
            <a:ext cx="1495634" cy="702524"/>
          </a:xfrm>
          <a:prstGeom prst="rect">
            <a:avLst/>
          </a:prstGeom>
        </p:spPr>
      </p:pic>
      <p:sp>
        <p:nvSpPr>
          <p:cNvPr id="10" name="TextBox 9"/>
          <p:cNvSpPr txBox="1"/>
          <p:nvPr/>
        </p:nvSpPr>
        <p:spPr>
          <a:xfrm>
            <a:off x="495301" y="708992"/>
            <a:ext cx="6607866" cy="5909310"/>
          </a:xfrm>
          <a:prstGeom prst="rect">
            <a:avLst/>
          </a:prstGeom>
          <a:noFill/>
        </p:spPr>
        <p:txBody>
          <a:bodyPr wrap="square" rtlCol="0">
            <a:spAutoFit/>
          </a:bodyPr>
          <a:lstStyle/>
          <a:p>
            <a:pPr marL="285750" indent="-285750">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The </a:t>
            </a:r>
            <a:r>
              <a:rPr lang="en-GB" sz="2400" dirty="0" smtClean="0">
                <a:latin typeface="Times New Roman" panose="02020603050405020304" pitchFamily="18" charset="0"/>
                <a:cs typeface="Times New Roman" panose="02020603050405020304" pitchFamily="18" charset="0"/>
              </a:rPr>
              <a:t>dataset has </a:t>
            </a:r>
            <a:r>
              <a:rPr lang="en-GB" sz="2400" dirty="0" smtClean="0">
                <a:latin typeface="Times New Roman" panose="02020603050405020304" pitchFamily="18" charset="0"/>
                <a:cs typeface="Times New Roman" panose="02020603050405020304" pitchFamily="18" charset="0"/>
              </a:rPr>
              <a:t>1470 </a:t>
            </a:r>
            <a:r>
              <a:rPr lang="en-GB" sz="2400" dirty="0">
                <a:latin typeface="Times New Roman" panose="02020603050405020304" pitchFamily="18" charset="0"/>
                <a:cs typeface="Times New Roman" panose="02020603050405020304" pitchFamily="18" charset="0"/>
              </a:rPr>
              <a:t>t</a:t>
            </a:r>
            <a:r>
              <a:rPr lang="en-GB" sz="2400" dirty="0" smtClean="0">
                <a:latin typeface="Times New Roman" panose="02020603050405020304" pitchFamily="18" charset="0"/>
                <a:cs typeface="Times New Roman" panose="02020603050405020304" pitchFamily="18" charset="0"/>
              </a:rPr>
              <a:t>otal staff members; 1231 current </a:t>
            </a:r>
            <a:r>
              <a:rPr lang="en-GB" sz="2400" dirty="0" smtClean="0">
                <a:latin typeface="Times New Roman" panose="02020603050405020304" pitchFamily="18" charset="0"/>
                <a:cs typeface="Times New Roman" panose="02020603050405020304" pitchFamily="18" charset="0"/>
              </a:rPr>
              <a:t>employees (Attrition: No) </a:t>
            </a:r>
            <a:r>
              <a:rPr lang="en-GB" sz="2400" dirty="0" smtClean="0">
                <a:latin typeface="Times New Roman" panose="02020603050405020304" pitchFamily="18" charset="0"/>
                <a:cs typeface="Times New Roman" panose="02020603050405020304" pitchFamily="18" charset="0"/>
              </a:rPr>
              <a:t>and 237 </a:t>
            </a:r>
            <a:r>
              <a:rPr lang="en-GB" sz="2400" dirty="0" smtClean="0">
                <a:latin typeface="Times New Roman" panose="02020603050405020304" pitchFamily="18" charset="0"/>
                <a:cs typeface="Times New Roman" panose="02020603050405020304" pitchFamily="18" charset="0"/>
              </a:rPr>
              <a:t>employees (Attrition Yes) </a:t>
            </a:r>
            <a:r>
              <a:rPr lang="en-GB" sz="2400" dirty="0" smtClean="0">
                <a:latin typeface="Times New Roman" panose="02020603050405020304" pitchFamily="18" charset="0"/>
                <a:cs typeface="Times New Roman" panose="02020603050405020304" pitchFamily="18" charset="0"/>
              </a:rPr>
              <a:t>have left the organisation.  </a:t>
            </a:r>
          </a:p>
          <a:p>
            <a:endParaRPr lang="en-GB"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The current attrition rate is 16.1%</a:t>
            </a:r>
          </a:p>
          <a:p>
            <a:endParaRPr lang="en-GB"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190 </a:t>
            </a:r>
            <a:r>
              <a:rPr lang="en-GB" sz="2400" dirty="0" smtClean="0">
                <a:latin typeface="Times New Roman" panose="02020603050405020304" pitchFamily="18" charset="0"/>
                <a:cs typeface="Times New Roman" panose="02020603050405020304" pitchFamily="18" charset="0"/>
              </a:rPr>
              <a:t>employees hired between 2021 and 2022 have missing performance records  </a:t>
            </a:r>
          </a:p>
          <a:p>
            <a:endParaRPr lang="en-GB" sz="2400" dirty="0" smtClean="0">
              <a:latin typeface="Times New Roman" panose="02020603050405020304" pitchFamily="18" charset="0"/>
              <a:cs typeface="Times New Roman" panose="02020603050405020304" pitchFamily="18" charset="0"/>
            </a:endParaRPr>
          </a:p>
          <a:p>
            <a:endParaRPr lang="en-GB"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Outlier - One Sales Executive is in the Technology Department</a:t>
            </a:r>
            <a:r>
              <a:rPr lang="en-GB" sz="2400" dirty="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 Sales  </a:t>
            </a:r>
            <a:r>
              <a:rPr lang="en-GB" sz="2400" dirty="0">
                <a:latin typeface="Times New Roman" panose="02020603050405020304" pitchFamily="18" charset="0"/>
                <a:cs typeface="Times New Roman" panose="02020603050405020304" pitchFamily="18" charset="0"/>
              </a:rPr>
              <a:t>Executive in Technology is presumed to be a Business Relationship Manager</a:t>
            </a:r>
          </a:p>
          <a:p>
            <a:endParaRPr lang="en-GB" dirty="0"/>
          </a:p>
        </p:txBody>
      </p:sp>
    </p:spTree>
    <p:extLst>
      <p:ext uri="{BB962C8B-B14F-4D97-AF65-F5344CB8AC3E}">
        <p14:creationId xmlns:p14="http://schemas.microsoft.com/office/powerpoint/2010/main" val="41171968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5563647" y="169285"/>
            <a:ext cx="6023532" cy="3021207"/>
          </a:xfrm>
          <a:prstGeom prst="rect">
            <a:avLst/>
          </a:prstGeom>
          <a:ln>
            <a:solidFill>
              <a:schemeClr val="tx1"/>
            </a:solidFill>
          </a:ln>
        </p:spPr>
      </p:pic>
      <p:sp>
        <p:nvSpPr>
          <p:cNvPr id="5" name="TextBox 4"/>
          <p:cNvSpPr txBox="1"/>
          <p:nvPr/>
        </p:nvSpPr>
        <p:spPr>
          <a:xfrm>
            <a:off x="331305" y="387228"/>
            <a:ext cx="4843671" cy="3600986"/>
          </a:xfrm>
          <a:prstGeom prst="rect">
            <a:avLst/>
          </a:prstGeom>
          <a:noFill/>
        </p:spPr>
        <p:txBody>
          <a:bodyPr wrap="square" rtlCol="0">
            <a:spAutoFit/>
          </a:bodyPr>
          <a:lstStyle/>
          <a:p>
            <a:r>
              <a:rPr lang="en-GB" sz="2400" b="1" dirty="0" smtClean="0">
                <a:latin typeface="Times New Roman" panose="02020603050405020304" pitchFamily="18" charset="0"/>
                <a:cs typeface="Times New Roman" panose="02020603050405020304" pitchFamily="18" charset="0"/>
              </a:rPr>
              <a:t>Distribution of Employee Salaries</a:t>
            </a:r>
          </a:p>
          <a:p>
            <a:pPr marL="285750" indent="-285750">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Approximately 50% of the staff earn between USD 50,000 and USD 140,000</a:t>
            </a:r>
          </a:p>
          <a:p>
            <a:pPr marL="285750" indent="-285750">
              <a:buFont typeface="Arial" panose="020B0604020202020204" pitchFamily="34" charset="0"/>
              <a:buChar char="•"/>
            </a:pPr>
            <a:endParaRPr lang="en-GB"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 There is a significant number of employees who are </a:t>
            </a:r>
            <a:r>
              <a:rPr lang="en-GB" sz="2400" dirty="0" smtClean="0">
                <a:latin typeface="Times New Roman" panose="02020603050405020304" pitchFamily="18" charset="0"/>
                <a:cs typeface="Times New Roman" panose="02020603050405020304" pitchFamily="18" charset="0"/>
              </a:rPr>
              <a:t>paid </a:t>
            </a:r>
            <a:r>
              <a:rPr lang="en-GB" sz="2400" dirty="0" smtClean="0">
                <a:latin typeface="Times New Roman" panose="02020603050405020304" pitchFamily="18" charset="0"/>
                <a:cs typeface="Times New Roman" panose="02020603050405020304" pitchFamily="18" charset="0"/>
              </a:rPr>
              <a:t>higher than the median point: USD 75,000</a:t>
            </a:r>
          </a:p>
          <a:p>
            <a:pPr marL="285750" indent="-285750">
              <a:buFont typeface="Arial" panose="020B0604020202020204" pitchFamily="34" charset="0"/>
              <a:buChar char="•"/>
            </a:pPr>
            <a:endParaRPr lang="en-GB" dirty="0" smtClean="0"/>
          </a:p>
          <a:p>
            <a:endParaRPr lang="en-GB" dirty="0"/>
          </a:p>
        </p:txBody>
      </p:sp>
      <p:sp>
        <p:nvSpPr>
          <p:cNvPr id="7" name="TextBox 6"/>
          <p:cNvSpPr txBox="1"/>
          <p:nvPr/>
        </p:nvSpPr>
        <p:spPr>
          <a:xfrm>
            <a:off x="312630" y="3811012"/>
            <a:ext cx="5056682" cy="3046988"/>
          </a:xfrm>
          <a:prstGeom prst="rect">
            <a:avLst/>
          </a:prstGeom>
          <a:noFill/>
        </p:spPr>
        <p:txBody>
          <a:bodyPr wrap="square" rtlCol="0">
            <a:spAutoFit/>
          </a:bodyPr>
          <a:lstStyle/>
          <a:p>
            <a:r>
              <a:rPr lang="en-GB" sz="2400" b="1" dirty="0">
                <a:latin typeface="Times New Roman" panose="02020603050405020304" pitchFamily="18" charset="0"/>
                <a:cs typeface="Times New Roman" panose="02020603050405020304" pitchFamily="18" charset="0"/>
              </a:rPr>
              <a:t>Employee Commute</a:t>
            </a:r>
          </a:p>
          <a:p>
            <a:endParaRPr lang="en-GB" sz="24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50% of the employees live closer than 22km and 50% leave further but not more than 42km </a:t>
            </a:r>
          </a:p>
          <a:p>
            <a:pPr marL="285750" indent="-285750">
              <a:buFont typeface="Arial" panose="020B0604020202020204" pitchFamily="34" charset="0"/>
              <a:buChar char="•"/>
            </a:pPr>
            <a:endParaRPr lang="en-GB" dirty="0" smtClean="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smtClean="0"/>
          </a:p>
          <a:p>
            <a:pPr marL="285750" indent="-285750">
              <a:buFont typeface="Arial" panose="020B0604020202020204" pitchFamily="34" charset="0"/>
              <a:buChar char="•"/>
            </a:pPr>
            <a:endParaRPr lang="en-GB" dirty="0"/>
          </a:p>
        </p:txBody>
      </p:sp>
      <p:pic>
        <p:nvPicPr>
          <p:cNvPr id="9" name="Picture 8"/>
          <p:cNvPicPr>
            <a:picLocks noChangeAspect="1"/>
          </p:cNvPicPr>
          <p:nvPr/>
        </p:nvPicPr>
        <p:blipFill>
          <a:blip r:embed="rId3"/>
          <a:stretch>
            <a:fillRect/>
          </a:stretch>
        </p:blipFill>
        <p:spPr>
          <a:xfrm>
            <a:off x="5563647" y="3498573"/>
            <a:ext cx="6628353" cy="3253409"/>
          </a:xfrm>
          <a:prstGeom prst="rect">
            <a:avLst/>
          </a:prstGeom>
          <a:ln>
            <a:solidFill>
              <a:schemeClr val="tx1"/>
            </a:solidFill>
          </a:ln>
        </p:spPr>
      </p:pic>
    </p:spTree>
    <p:extLst>
      <p:ext uri="{BB962C8B-B14F-4D97-AF65-F5344CB8AC3E}">
        <p14:creationId xmlns:p14="http://schemas.microsoft.com/office/powerpoint/2010/main" val="11724454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a:srcRect l="1749" r="1166" b="1648"/>
          <a:stretch/>
        </p:blipFill>
        <p:spPr>
          <a:xfrm>
            <a:off x="159026" y="654295"/>
            <a:ext cx="8825949" cy="5932036"/>
          </a:xfrm>
          <a:prstGeom prst="rect">
            <a:avLst/>
          </a:prstGeom>
        </p:spPr>
      </p:pic>
      <p:sp>
        <p:nvSpPr>
          <p:cNvPr id="2" name="TextBox 1"/>
          <p:cNvSpPr txBox="1"/>
          <p:nvPr/>
        </p:nvSpPr>
        <p:spPr>
          <a:xfrm>
            <a:off x="8984975" y="1963806"/>
            <a:ext cx="3101009" cy="2862322"/>
          </a:xfrm>
          <a:prstGeom prst="rect">
            <a:avLst/>
          </a:prstGeom>
          <a:noFill/>
        </p:spPr>
        <p:txBody>
          <a:bodyPr wrap="square" rtlCol="0">
            <a:spAutoFit/>
          </a:bodyPr>
          <a:lstStyle/>
          <a:p>
            <a:pPr marL="285750" indent="-285750">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White is the largest </a:t>
            </a:r>
            <a:r>
              <a:rPr lang="en-GB" sz="2400" dirty="0">
                <a:latin typeface="Times New Roman" panose="02020603050405020304" pitchFamily="18" charset="0"/>
                <a:cs typeface="Times New Roman" panose="02020603050405020304" pitchFamily="18" charset="0"/>
              </a:rPr>
              <a:t>ethnicity</a:t>
            </a:r>
            <a:r>
              <a:rPr lang="en-GB" sz="2400" dirty="0">
                <a:latin typeface="Times New Roman" panose="02020603050405020304" pitchFamily="18" charset="0"/>
                <a:cs typeface="Times New Roman" panose="02020603050405020304" pitchFamily="18" charset="0"/>
              </a:rPr>
              <a:t> and highest paid</a:t>
            </a:r>
          </a:p>
          <a:p>
            <a:pPr marL="285750" indent="-285750">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Other is the least paid </a:t>
            </a:r>
            <a:r>
              <a:rPr lang="en-GB" sz="2400" dirty="0" smtClean="0">
                <a:latin typeface="Times New Roman" panose="02020603050405020304" pitchFamily="18" charset="0"/>
                <a:cs typeface="Times New Roman" panose="02020603050405020304" pitchFamily="18" charset="0"/>
              </a:rPr>
              <a:t>ethnicity</a:t>
            </a:r>
          </a:p>
          <a:p>
            <a:endParaRPr lang="en-GB"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GB" dirty="0" smtClean="0"/>
          </a:p>
          <a:p>
            <a:endParaRPr lang="en-GB" dirty="0" smtClean="0"/>
          </a:p>
        </p:txBody>
      </p:sp>
    </p:spTree>
    <p:extLst>
      <p:ext uri="{BB962C8B-B14F-4D97-AF65-F5344CB8AC3E}">
        <p14:creationId xmlns:p14="http://schemas.microsoft.com/office/powerpoint/2010/main" val="13645521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49353" y="198783"/>
            <a:ext cx="4200939" cy="4744278"/>
          </a:xfrm>
          <a:prstGeom prst="rect">
            <a:avLst/>
          </a:prstGeom>
          <a:ln>
            <a:solidFill>
              <a:schemeClr val="tx1"/>
            </a:solidFill>
          </a:ln>
        </p:spPr>
      </p:pic>
      <p:pic>
        <p:nvPicPr>
          <p:cNvPr id="8" name="Picture 7"/>
          <p:cNvPicPr>
            <a:picLocks noChangeAspect="1"/>
          </p:cNvPicPr>
          <p:nvPr/>
        </p:nvPicPr>
        <p:blipFill>
          <a:blip r:embed="rId3"/>
          <a:stretch>
            <a:fillRect/>
          </a:stretch>
        </p:blipFill>
        <p:spPr>
          <a:xfrm>
            <a:off x="6423515" y="198783"/>
            <a:ext cx="4324000" cy="4744278"/>
          </a:xfrm>
          <a:prstGeom prst="rect">
            <a:avLst/>
          </a:prstGeom>
          <a:ln>
            <a:solidFill>
              <a:schemeClr val="tx1"/>
            </a:solidFill>
          </a:ln>
        </p:spPr>
      </p:pic>
      <p:pic>
        <p:nvPicPr>
          <p:cNvPr id="6" name="Picture 5"/>
          <p:cNvPicPr>
            <a:picLocks noChangeAspect="1"/>
          </p:cNvPicPr>
          <p:nvPr/>
        </p:nvPicPr>
        <p:blipFill rotWithShape="1">
          <a:blip r:embed="rId4"/>
          <a:srcRect l="3630" t="8431" r="25777" b="4097"/>
          <a:stretch/>
        </p:blipFill>
        <p:spPr>
          <a:xfrm>
            <a:off x="10376454" y="795130"/>
            <a:ext cx="1351722" cy="1099931"/>
          </a:xfrm>
          <a:prstGeom prst="rect">
            <a:avLst/>
          </a:prstGeom>
          <a:ln>
            <a:solidFill>
              <a:schemeClr val="bg1"/>
            </a:solidFill>
          </a:ln>
        </p:spPr>
      </p:pic>
      <p:sp>
        <p:nvSpPr>
          <p:cNvPr id="11" name="TextBox 10"/>
          <p:cNvSpPr txBox="1"/>
          <p:nvPr/>
        </p:nvSpPr>
        <p:spPr>
          <a:xfrm>
            <a:off x="649353" y="5340626"/>
            <a:ext cx="10575238" cy="1200329"/>
          </a:xfrm>
          <a:prstGeom prst="rect">
            <a:avLst/>
          </a:prstGeom>
          <a:noFill/>
        </p:spPr>
        <p:txBody>
          <a:bodyPr wrap="square" rtlCol="0">
            <a:spAutoFit/>
          </a:bodyPr>
          <a:lstStyle/>
          <a:p>
            <a:pPr marL="285750" indent="-285750">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59% of the employees are between 20-29 years</a:t>
            </a:r>
          </a:p>
          <a:p>
            <a:pPr marL="285750" indent="-285750">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E</a:t>
            </a:r>
            <a:r>
              <a:rPr lang="en-GB" sz="2400" dirty="0">
                <a:latin typeface="Times New Roman" panose="02020603050405020304" pitchFamily="18" charset="0"/>
                <a:cs typeface="Times New Roman" panose="02020603050405020304" pitchFamily="18" charset="0"/>
              </a:rPr>
              <a:t>qual distribution  male and female employees, and a lower percentage of non-binary </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04429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r="2195" b="1494"/>
          <a:stretch/>
        </p:blipFill>
        <p:spPr>
          <a:xfrm>
            <a:off x="172279" y="686953"/>
            <a:ext cx="8123581" cy="4635691"/>
          </a:xfrm>
          <a:prstGeom prst="rect">
            <a:avLst/>
          </a:prstGeom>
        </p:spPr>
      </p:pic>
      <p:sp>
        <p:nvSpPr>
          <p:cNvPr id="6" name="TextBox 5"/>
          <p:cNvSpPr txBox="1"/>
          <p:nvPr/>
        </p:nvSpPr>
        <p:spPr>
          <a:xfrm>
            <a:off x="2544418" y="225288"/>
            <a:ext cx="6016487" cy="461665"/>
          </a:xfrm>
          <a:prstGeom prst="rect">
            <a:avLst/>
          </a:prstGeom>
          <a:noFill/>
        </p:spPr>
        <p:txBody>
          <a:bodyPr wrap="square" rtlCol="0">
            <a:spAutoFit/>
          </a:bodyPr>
          <a:lstStyle/>
          <a:p>
            <a:pPr algn="ctr"/>
            <a:r>
              <a:rPr lang="en-GB" sz="2400" b="1" dirty="0" smtClean="0"/>
              <a:t>DEPARTMENTS</a:t>
            </a:r>
            <a:endParaRPr lang="en-GB" sz="2400" b="1" dirty="0"/>
          </a:p>
        </p:txBody>
      </p:sp>
      <p:sp>
        <p:nvSpPr>
          <p:cNvPr id="2" name="TextBox 1"/>
          <p:cNvSpPr txBox="1"/>
          <p:nvPr/>
        </p:nvSpPr>
        <p:spPr>
          <a:xfrm>
            <a:off x="887896" y="5565338"/>
            <a:ext cx="10283686" cy="1292662"/>
          </a:xfrm>
          <a:prstGeom prst="rect">
            <a:avLst/>
          </a:prstGeom>
          <a:noFill/>
        </p:spPr>
        <p:txBody>
          <a:bodyPr wrap="square" rtlCol="0">
            <a:spAutoFit/>
          </a:bodyPr>
          <a:lstStyle/>
          <a:p>
            <a:pPr marL="285750"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Technology department and Sales Executive roles have the largest number of staff</a:t>
            </a:r>
          </a:p>
          <a:p>
            <a:pPr marL="285750"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Sales  </a:t>
            </a:r>
            <a:r>
              <a:rPr lang="en-GB" sz="2000" dirty="0">
                <a:latin typeface="Times New Roman" panose="02020603050405020304" pitchFamily="18" charset="0"/>
                <a:cs typeface="Times New Roman" panose="02020603050405020304" pitchFamily="18" charset="0"/>
              </a:rPr>
              <a:t>Executive</a:t>
            </a:r>
            <a:r>
              <a:rPr lang="en-GB" sz="2000" dirty="0">
                <a:latin typeface="Times New Roman" panose="02020603050405020304" pitchFamily="18" charset="0"/>
                <a:cs typeface="Times New Roman" panose="02020603050405020304" pitchFamily="18" charset="0"/>
              </a:rPr>
              <a:t> in Technology is presumed to be a Business Relationship Manager</a:t>
            </a:r>
          </a:p>
          <a:p>
            <a:endParaRPr lang="en-GB" sz="2000" dirty="0" smtClean="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16580024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3286"/>
            <a:ext cx="5562600" cy="865414"/>
          </a:xfrm>
        </p:spPr>
        <p:txBody>
          <a:bodyPr>
            <a:normAutofit/>
          </a:bodyPr>
          <a:lstStyle/>
          <a:p>
            <a:r>
              <a:rPr lang="en-GB" b="1" dirty="0" smtClean="0"/>
              <a:t>Attrition distribution</a:t>
            </a:r>
            <a:endParaRPr lang="en-GB" b="1" dirty="0"/>
          </a:p>
        </p:txBody>
      </p:sp>
      <p:sp>
        <p:nvSpPr>
          <p:cNvPr id="5" name="TextBox 4"/>
          <p:cNvSpPr txBox="1"/>
          <p:nvPr/>
        </p:nvSpPr>
        <p:spPr>
          <a:xfrm>
            <a:off x="838199" y="1992085"/>
            <a:ext cx="5089071" cy="1661993"/>
          </a:xfrm>
          <a:prstGeom prst="rect">
            <a:avLst/>
          </a:prstGeom>
          <a:noFill/>
        </p:spPr>
        <p:txBody>
          <a:bodyPr wrap="square" rtlCol="0">
            <a:spAutoFit/>
          </a:bodyPr>
          <a:lstStyle/>
          <a:p>
            <a:pPr marL="285750" indent="-285750">
              <a:buFont typeface="Arial" panose="020B0604020202020204" pitchFamily="34" charset="0"/>
              <a:buChar char="•"/>
            </a:pPr>
            <a:r>
              <a:rPr lang="en-GB" sz="2800" dirty="0" smtClean="0"/>
              <a:t>1468 unique employees</a:t>
            </a:r>
          </a:p>
          <a:p>
            <a:pPr marL="285750" indent="-285750">
              <a:buFont typeface="Arial" panose="020B0604020202020204" pitchFamily="34" charset="0"/>
              <a:buChar char="•"/>
            </a:pPr>
            <a:r>
              <a:rPr lang="en-GB" sz="2800" b="1" dirty="0" smtClean="0"/>
              <a:t>No </a:t>
            </a:r>
            <a:r>
              <a:rPr lang="en-GB" sz="2800" b="1" dirty="0"/>
              <a:t>Attrition:</a:t>
            </a:r>
            <a:r>
              <a:rPr lang="en-GB" sz="2800" dirty="0"/>
              <a:t> 1231 </a:t>
            </a:r>
            <a:r>
              <a:rPr lang="en-GB" sz="2800" dirty="0" smtClean="0"/>
              <a:t>employees</a:t>
            </a:r>
          </a:p>
          <a:p>
            <a:pPr marL="285750" indent="-285750">
              <a:buFont typeface="Arial" panose="020B0604020202020204" pitchFamily="34" charset="0"/>
              <a:buChar char="•"/>
            </a:pPr>
            <a:r>
              <a:rPr lang="en-GB" sz="2800" b="1" dirty="0" smtClean="0"/>
              <a:t>Yes </a:t>
            </a:r>
            <a:r>
              <a:rPr lang="en-GB" sz="2800" b="1" dirty="0"/>
              <a:t>Attrition:</a:t>
            </a:r>
            <a:r>
              <a:rPr lang="en-GB" sz="2800" dirty="0"/>
              <a:t> 237 employees</a:t>
            </a:r>
          </a:p>
          <a:p>
            <a:pPr marL="285750" indent="-285750">
              <a:buFont typeface="Arial" panose="020B0604020202020204" pitchFamily="34" charset="0"/>
              <a:buChar char="•"/>
            </a:pPr>
            <a:endParaRPr lang="en-GB" dirty="0"/>
          </a:p>
        </p:txBody>
      </p:sp>
      <p:pic>
        <p:nvPicPr>
          <p:cNvPr id="7" name="Picture 6"/>
          <p:cNvPicPr>
            <a:picLocks noChangeAspect="1"/>
          </p:cNvPicPr>
          <p:nvPr/>
        </p:nvPicPr>
        <p:blipFill>
          <a:blip r:embed="rId2"/>
          <a:stretch>
            <a:fillRect/>
          </a:stretch>
        </p:blipFill>
        <p:spPr>
          <a:xfrm>
            <a:off x="6290786" y="1028700"/>
            <a:ext cx="5171872" cy="5208814"/>
          </a:xfrm>
          <a:prstGeom prst="rect">
            <a:avLst/>
          </a:prstGeom>
          <a:ln>
            <a:solidFill>
              <a:schemeClr val="tx1"/>
            </a:solidFill>
          </a:ln>
        </p:spPr>
      </p:pic>
    </p:spTree>
    <p:extLst>
      <p:ext uri="{BB962C8B-B14F-4D97-AF65-F5344CB8AC3E}">
        <p14:creationId xmlns:p14="http://schemas.microsoft.com/office/powerpoint/2010/main" val="23125753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309113" y="649357"/>
            <a:ext cx="3737113" cy="369332"/>
          </a:xfrm>
          <a:prstGeom prst="rect">
            <a:avLst/>
          </a:prstGeom>
          <a:noFill/>
        </p:spPr>
        <p:txBody>
          <a:bodyPr wrap="square" rtlCol="0">
            <a:spAutoFit/>
          </a:bodyPr>
          <a:lstStyle/>
          <a:p>
            <a:pPr marL="285750" indent="-285750">
              <a:buFont typeface="Arial" panose="020B0604020202020204" pitchFamily="34" charset="0"/>
              <a:buChar char="•"/>
            </a:pPr>
            <a:endParaRPr lang="en-GB" dirty="0"/>
          </a:p>
        </p:txBody>
      </p:sp>
      <p:pic>
        <p:nvPicPr>
          <p:cNvPr id="6" name="Picture 5"/>
          <p:cNvPicPr>
            <a:picLocks noChangeAspect="1"/>
          </p:cNvPicPr>
          <p:nvPr/>
        </p:nvPicPr>
        <p:blipFill>
          <a:blip r:embed="rId2"/>
          <a:stretch>
            <a:fillRect/>
          </a:stretch>
        </p:blipFill>
        <p:spPr>
          <a:xfrm>
            <a:off x="396797" y="1111022"/>
            <a:ext cx="8018333" cy="4803205"/>
          </a:xfrm>
          <a:prstGeom prst="rect">
            <a:avLst/>
          </a:prstGeom>
        </p:spPr>
      </p:pic>
      <p:sp>
        <p:nvSpPr>
          <p:cNvPr id="7" name="TextBox 6"/>
          <p:cNvSpPr txBox="1"/>
          <p:nvPr/>
        </p:nvSpPr>
        <p:spPr>
          <a:xfrm>
            <a:off x="8415130" y="1172550"/>
            <a:ext cx="3776870" cy="1569660"/>
          </a:xfrm>
          <a:prstGeom prst="rect">
            <a:avLst/>
          </a:prstGeom>
          <a:noFill/>
        </p:spPr>
        <p:txBody>
          <a:bodyPr wrap="square" rtlCol="0">
            <a:spAutoFit/>
          </a:bodyPr>
          <a:lstStyle/>
          <a:p>
            <a:pPr marL="285750" indent="-285750">
              <a:buFont typeface="Arial" panose="020B0604020202020204" pitchFamily="34" charset="0"/>
              <a:buChar char="•"/>
            </a:pPr>
            <a:r>
              <a:rPr lang="en-GB" sz="2400" dirty="0"/>
              <a:t>Sales Representatives have the highest </a:t>
            </a:r>
            <a:r>
              <a:rPr lang="en-GB" sz="2400" dirty="0"/>
              <a:t>number</a:t>
            </a:r>
            <a:r>
              <a:rPr lang="en-GB" sz="2400" dirty="0"/>
              <a:t> of attrition followed by the Recruiters</a:t>
            </a:r>
            <a:r>
              <a:rPr lang="en-GB" sz="2000" dirty="0" smtClean="0"/>
              <a:t>. </a:t>
            </a:r>
            <a:endParaRPr lang="en-GB" sz="2000" dirty="0"/>
          </a:p>
        </p:txBody>
      </p:sp>
      <p:sp>
        <p:nvSpPr>
          <p:cNvPr id="2" name="TextBox 1"/>
          <p:cNvSpPr txBox="1"/>
          <p:nvPr/>
        </p:nvSpPr>
        <p:spPr>
          <a:xfrm>
            <a:off x="1126671" y="126137"/>
            <a:ext cx="6939643" cy="523220"/>
          </a:xfrm>
          <a:prstGeom prst="rect">
            <a:avLst/>
          </a:prstGeom>
          <a:noFill/>
        </p:spPr>
        <p:txBody>
          <a:bodyPr wrap="square" rtlCol="0">
            <a:spAutoFit/>
          </a:bodyPr>
          <a:lstStyle/>
          <a:p>
            <a:r>
              <a:rPr lang="en-GB" sz="2800" b="1" dirty="0" smtClean="0"/>
              <a:t>Attrition per Department per Job role</a:t>
            </a:r>
            <a:endParaRPr lang="en-GB" sz="2800" b="1" dirty="0"/>
          </a:p>
        </p:txBody>
      </p:sp>
    </p:spTree>
    <p:extLst>
      <p:ext uri="{BB962C8B-B14F-4D97-AF65-F5344CB8AC3E}">
        <p14:creationId xmlns:p14="http://schemas.microsoft.com/office/powerpoint/2010/main" val="553735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0"/>
            <a:ext cx="8888186" cy="1325563"/>
          </a:xfrm>
        </p:spPr>
        <p:txBody>
          <a:bodyPr/>
          <a:lstStyle/>
          <a:p>
            <a:r>
              <a:rPr lang="en-GB" b="1" dirty="0" smtClean="0"/>
              <a:t>Attrition by Overtime</a:t>
            </a:r>
            <a:endParaRPr lang="en-GB" b="1" dirty="0"/>
          </a:p>
        </p:txBody>
      </p:sp>
      <p:pic>
        <p:nvPicPr>
          <p:cNvPr id="4" name="Picture 3"/>
          <p:cNvPicPr>
            <a:picLocks noChangeAspect="1"/>
          </p:cNvPicPr>
          <p:nvPr/>
        </p:nvPicPr>
        <p:blipFill>
          <a:blip r:embed="rId2"/>
          <a:stretch>
            <a:fillRect/>
          </a:stretch>
        </p:blipFill>
        <p:spPr>
          <a:xfrm>
            <a:off x="7255328" y="662781"/>
            <a:ext cx="3325586" cy="5947911"/>
          </a:xfrm>
          <a:prstGeom prst="rect">
            <a:avLst/>
          </a:prstGeom>
        </p:spPr>
      </p:pic>
      <p:sp>
        <p:nvSpPr>
          <p:cNvPr id="5" name="TextBox 4"/>
          <p:cNvSpPr txBox="1"/>
          <p:nvPr/>
        </p:nvSpPr>
        <p:spPr>
          <a:xfrm>
            <a:off x="718457" y="1361169"/>
            <a:ext cx="4931229" cy="5078313"/>
          </a:xfrm>
          <a:prstGeom prst="rect">
            <a:avLst/>
          </a:prstGeom>
          <a:noFill/>
        </p:spPr>
        <p:txBody>
          <a:bodyPr wrap="square" rtlCol="0">
            <a:spAutoFit/>
          </a:bodyPr>
          <a:lstStyle/>
          <a:p>
            <a:pPr marL="285750" indent="-285750">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There is a high attrition rate  for employees who work overtime </a:t>
            </a:r>
          </a:p>
          <a:p>
            <a:pPr marL="285750" indent="-285750">
              <a:buFont typeface="Arial" panose="020B0604020202020204" pitchFamily="34" charset="0"/>
              <a:buChar char="•"/>
            </a:pPr>
            <a:endParaRPr lang="en-GB"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GB"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30.5% of the employees who work overtime left the organisation</a:t>
            </a:r>
          </a:p>
          <a:p>
            <a:pPr marL="285750" indent="-285750">
              <a:buFont typeface="Arial" panose="020B0604020202020204" pitchFamily="34" charset="0"/>
              <a:buChar char="•"/>
            </a:pPr>
            <a:endParaRPr lang="en-GB"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Overall, 53.6</a:t>
            </a:r>
            <a:r>
              <a:rPr lang="en-GB" sz="2400" dirty="0" smtClean="0">
                <a:latin typeface="Times New Roman" panose="02020603050405020304" pitchFamily="18" charset="0"/>
                <a:cs typeface="Times New Roman" panose="02020603050405020304" pitchFamily="18" charset="0"/>
              </a:rPr>
              <a:t>% of the employees who left worked overtime</a:t>
            </a:r>
            <a:endParaRPr lang="en-GB"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GB" sz="2400" dirty="0" smtClean="0"/>
          </a:p>
          <a:p>
            <a:endParaRPr lang="en-GB" sz="2800" dirty="0" smtClean="0"/>
          </a:p>
          <a:p>
            <a:pPr marL="285750" indent="-285750">
              <a:buFont typeface="Arial" panose="020B0604020202020204" pitchFamily="34" charset="0"/>
              <a:buChar char="•"/>
            </a:pPr>
            <a:endParaRPr lang="en-GB" sz="2800" dirty="0" smtClean="0"/>
          </a:p>
          <a:p>
            <a:pPr marL="285750" indent="-285750">
              <a:buFont typeface="Arial" panose="020B0604020202020204" pitchFamily="34" charset="0"/>
              <a:buChar char="•"/>
            </a:pPr>
            <a:endParaRPr lang="en-GB" sz="2800" dirty="0"/>
          </a:p>
        </p:txBody>
      </p:sp>
    </p:spTree>
    <p:extLst>
      <p:ext uri="{BB962C8B-B14F-4D97-AF65-F5344CB8AC3E}">
        <p14:creationId xmlns:p14="http://schemas.microsoft.com/office/powerpoint/2010/main" val="12139062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689271" y="428351"/>
            <a:ext cx="4490357" cy="5847264"/>
          </a:xfrm>
          <a:prstGeom prst="rect">
            <a:avLst/>
          </a:prstGeom>
        </p:spPr>
      </p:pic>
      <p:sp>
        <p:nvSpPr>
          <p:cNvPr id="5" name="TextBox 4"/>
          <p:cNvSpPr txBox="1"/>
          <p:nvPr/>
        </p:nvSpPr>
        <p:spPr>
          <a:xfrm>
            <a:off x="800100" y="1733550"/>
            <a:ext cx="4381500" cy="954107"/>
          </a:xfrm>
          <a:prstGeom prst="rect">
            <a:avLst/>
          </a:prstGeom>
          <a:noFill/>
        </p:spPr>
        <p:txBody>
          <a:bodyPr wrap="square" rtlCol="0">
            <a:spAutoFit/>
          </a:bodyPr>
          <a:lstStyle/>
          <a:p>
            <a:r>
              <a:rPr lang="en-GB" sz="2800" dirty="0" smtClean="0">
                <a:latin typeface="Times New Roman" panose="02020603050405020304" pitchFamily="18" charset="0"/>
                <a:cs typeface="Times New Roman" panose="02020603050405020304" pitchFamily="18" charset="0"/>
              </a:rPr>
              <a:t>Highest Attrition rate for the range: 20-29 </a:t>
            </a:r>
            <a:endParaRPr lang="en-GB"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29742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994529" y="209461"/>
            <a:ext cx="8678915" cy="4894213"/>
          </a:xfrm>
          <a:prstGeom prst="rect">
            <a:avLst/>
          </a:prstGeom>
        </p:spPr>
      </p:pic>
      <p:sp>
        <p:nvSpPr>
          <p:cNvPr id="2" name="TextBox 1"/>
          <p:cNvSpPr txBox="1"/>
          <p:nvPr/>
        </p:nvSpPr>
        <p:spPr>
          <a:xfrm>
            <a:off x="1540332" y="5103674"/>
            <a:ext cx="9133112" cy="1477328"/>
          </a:xfrm>
          <a:prstGeom prst="rect">
            <a:avLst/>
          </a:prstGeom>
          <a:noFill/>
        </p:spPr>
        <p:txBody>
          <a:bodyPr wrap="square" rtlCol="0">
            <a:spAutoFit/>
          </a:bodyPr>
          <a:lstStyle/>
          <a:p>
            <a:pPr marL="285750" indent="-285750">
              <a:buFont typeface="Arial" panose="020B0604020202020204" pitchFamily="34" charset="0"/>
              <a:buChar char="•"/>
            </a:pPr>
            <a:endParaRPr lang="en-GB" dirty="0" smtClean="0"/>
          </a:p>
          <a:p>
            <a:pPr marL="285750" indent="-285750">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Employees in the Technology section are the most travellers</a:t>
            </a:r>
          </a:p>
          <a:p>
            <a:endParaRPr lang="en-GB"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High attrition rate for frequent travellers</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41810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93567" y="2064297"/>
            <a:ext cx="5314120" cy="3785652"/>
          </a:xfrm>
          <a:prstGeom prst="rect">
            <a:avLst/>
          </a:prstGeom>
          <a:noFill/>
        </p:spPr>
        <p:txBody>
          <a:bodyPr wrap="square" rtlCol="0">
            <a:spAutoFit/>
          </a:bodyPr>
          <a:lstStyle/>
          <a:p>
            <a:pPr marL="285750" indent="-285750">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High </a:t>
            </a:r>
            <a:r>
              <a:rPr lang="en-GB" sz="2400" dirty="0" smtClean="0">
                <a:latin typeface="Times New Roman" panose="02020603050405020304" pitchFamily="18" charset="0"/>
                <a:cs typeface="Times New Roman" panose="02020603050405020304" pitchFamily="18" charset="0"/>
              </a:rPr>
              <a:t>rate of attrition when the manager rating is lower than the employee self rating </a:t>
            </a:r>
          </a:p>
          <a:p>
            <a:endParaRPr lang="en-GB"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 Those recognised by managers as high performers also have a high rate of attrition</a:t>
            </a:r>
          </a:p>
          <a:p>
            <a:endParaRPr lang="en-GB"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1 Employee who got a higher rating from their managers have 0%</a:t>
            </a:r>
            <a:endParaRPr lang="en-GB" sz="24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rotWithShape="1">
          <a:blip r:embed="rId2"/>
          <a:srcRect r="52750" b="12636"/>
          <a:stretch/>
        </p:blipFill>
        <p:spPr>
          <a:xfrm>
            <a:off x="0" y="115956"/>
            <a:ext cx="6147766" cy="6390861"/>
          </a:xfrm>
          <a:prstGeom prst="rect">
            <a:avLst/>
          </a:prstGeom>
        </p:spPr>
      </p:pic>
    </p:spTree>
    <p:extLst>
      <p:ext uri="{BB962C8B-B14F-4D97-AF65-F5344CB8AC3E}">
        <p14:creationId xmlns:p14="http://schemas.microsoft.com/office/powerpoint/2010/main" val="15348294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93914" y="837961"/>
            <a:ext cx="6858000" cy="4566795"/>
          </a:xfrm>
          <a:prstGeom prst="rect">
            <a:avLst/>
          </a:prstGeom>
          <a:ln>
            <a:solidFill>
              <a:schemeClr val="tx1"/>
            </a:solidFill>
          </a:ln>
        </p:spPr>
      </p:pic>
      <p:sp>
        <p:nvSpPr>
          <p:cNvPr id="2" name="TextBox 1"/>
          <p:cNvSpPr txBox="1"/>
          <p:nvPr/>
        </p:nvSpPr>
        <p:spPr>
          <a:xfrm>
            <a:off x="7396843" y="1012371"/>
            <a:ext cx="4795157" cy="16879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The likelihood of attrition reduces with the number of years a staff member spends with the Manager</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96995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632277" y="195943"/>
            <a:ext cx="8785352" cy="4744112"/>
          </a:xfrm>
          <a:prstGeom prst="rect">
            <a:avLst/>
          </a:prstGeom>
        </p:spPr>
      </p:pic>
      <p:sp>
        <p:nvSpPr>
          <p:cNvPr id="8" name="TextBox 7"/>
          <p:cNvSpPr txBox="1"/>
          <p:nvPr/>
        </p:nvSpPr>
        <p:spPr>
          <a:xfrm>
            <a:off x="848795" y="5486400"/>
            <a:ext cx="10352315" cy="523220"/>
          </a:xfrm>
          <a:prstGeom prst="rect">
            <a:avLst/>
          </a:prstGeom>
          <a:noFill/>
        </p:spPr>
        <p:txBody>
          <a:bodyPr wrap="square" rtlCol="0">
            <a:spAutoFit/>
          </a:bodyPr>
          <a:lstStyle/>
          <a:p>
            <a:pPr marL="285750" indent="-285750">
              <a:buFont typeface="Arial" panose="020B0604020202020204" pitchFamily="34" charset="0"/>
              <a:buChar char="•"/>
            </a:pPr>
            <a:r>
              <a:rPr lang="en-GB" sz="2800" dirty="0" smtClean="0">
                <a:latin typeface="Times New Roman" panose="02020603050405020304" pitchFamily="18" charset="0"/>
                <a:cs typeface="Times New Roman" panose="02020603050405020304" pitchFamily="18" charset="0"/>
              </a:rPr>
              <a:t>High attrition rate for employees in the lower salary bracket</a:t>
            </a:r>
            <a:endParaRPr lang="en-GB"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20579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9596"/>
            <a:ext cx="10515600" cy="827570"/>
          </a:xfrm>
        </p:spPr>
        <p:txBody>
          <a:bodyPr>
            <a:normAutofit/>
          </a:bodyPr>
          <a:lstStyle/>
          <a:p>
            <a:pPr algn="ctr"/>
            <a:r>
              <a:rPr lang="en-GB" b="1" dirty="0" smtClean="0">
                <a:latin typeface="Times New Roman" panose="02020603050405020304" pitchFamily="18" charset="0"/>
                <a:cs typeface="Times New Roman" panose="02020603050405020304" pitchFamily="18" charset="0"/>
              </a:rPr>
              <a:t>Machine Learning models</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96348" y="1007166"/>
            <a:ext cx="11145078" cy="5446643"/>
          </a:xfrm>
        </p:spPr>
        <p:txBody>
          <a:bodyPr>
            <a:normAutofit fontScale="92500" lnSpcReduction="10000"/>
          </a:bodyPr>
          <a:lstStyle/>
          <a:p>
            <a:pPr marL="0" indent="0">
              <a:buNone/>
            </a:pPr>
            <a:r>
              <a:rPr lang="en-GB" b="1" dirty="0" smtClean="0">
                <a:latin typeface="Times New Roman" panose="02020603050405020304" pitchFamily="18" charset="0"/>
                <a:cs typeface="Times New Roman" panose="02020603050405020304" pitchFamily="18" charset="0"/>
              </a:rPr>
              <a:t>Objective:</a:t>
            </a:r>
          </a:p>
          <a:p>
            <a:pPr>
              <a:lnSpc>
                <a:spcPct val="150000"/>
              </a:lnSpc>
            </a:pPr>
            <a:r>
              <a:rPr lang="en-GB" dirty="0" smtClean="0">
                <a:latin typeface="Times New Roman" panose="02020603050405020304" pitchFamily="18" charset="0"/>
                <a:cs typeface="Times New Roman" panose="02020603050405020304" pitchFamily="18" charset="0"/>
              </a:rPr>
              <a:t>To predict employees that are at risk of leaving and apply appropriate retention measures.</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b="1" dirty="0">
                <a:latin typeface="Times New Roman" panose="02020603050405020304" pitchFamily="18" charset="0"/>
                <a:cs typeface="Times New Roman" panose="02020603050405020304" pitchFamily="18" charset="0"/>
              </a:rPr>
              <a:t>Methodology:</a:t>
            </a:r>
          </a:p>
          <a:p>
            <a:pPr>
              <a:lnSpc>
                <a:spcPct val="150000"/>
              </a:lnSpc>
            </a:pPr>
            <a:r>
              <a:rPr lang="en-GB" dirty="0" smtClean="0">
                <a:latin typeface="Times New Roman" panose="02020603050405020304" pitchFamily="18" charset="0"/>
                <a:cs typeface="Times New Roman" panose="02020603050405020304" pitchFamily="18" charset="0"/>
              </a:rPr>
              <a:t>In order to solve this problem, classification model was utilised.</a:t>
            </a:r>
          </a:p>
          <a:p>
            <a:pPr>
              <a:lnSpc>
                <a:spcPct val="150000"/>
              </a:lnSpc>
            </a:pPr>
            <a:r>
              <a:rPr lang="en-GB" dirty="0" smtClean="0">
                <a:latin typeface="Times New Roman" panose="02020603050405020304" pitchFamily="18" charset="0"/>
                <a:cs typeface="Times New Roman" panose="02020603050405020304" pitchFamily="18" charset="0"/>
              </a:rPr>
              <a:t>The target feature/ variable was the </a:t>
            </a:r>
            <a:r>
              <a:rPr lang="en-GB" b="1" dirty="0" smtClean="0">
                <a:latin typeface="Times New Roman" panose="02020603050405020304" pitchFamily="18" charset="0"/>
                <a:cs typeface="Times New Roman" panose="02020603050405020304" pitchFamily="18" charset="0"/>
              </a:rPr>
              <a:t>Attrition</a:t>
            </a:r>
          </a:p>
          <a:p>
            <a:pPr>
              <a:lnSpc>
                <a:spcPct val="150000"/>
              </a:lnSpc>
            </a:pPr>
            <a:r>
              <a:rPr lang="en-GB" dirty="0">
                <a:latin typeface="Times New Roman" panose="02020603050405020304" pitchFamily="18" charset="0"/>
                <a:cs typeface="Times New Roman" panose="02020603050405020304" pitchFamily="18" charset="0"/>
              </a:rPr>
              <a:t>190 </a:t>
            </a:r>
            <a:r>
              <a:rPr lang="en-GB" dirty="0" smtClean="0">
                <a:latin typeface="Times New Roman" panose="02020603050405020304" pitchFamily="18" charset="0"/>
                <a:cs typeface="Times New Roman" panose="02020603050405020304" pitchFamily="18" charset="0"/>
              </a:rPr>
              <a:t>employees with missing performance records were dropped and only latest review records were considered</a:t>
            </a:r>
          </a:p>
          <a:p>
            <a:endParaRPr lang="en-GB" dirty="0"/>
          </a:p>
        </p:txBody>
      </p:sp>
    </p:spTree>
    <p:extLst>
      <p:ext uri="{BB962C8B-B14F-4D97-AF65-F5344CB8AC3E}">
        <p14:creationId xmlns:p14="http://schemas.microsoft.com/office/powerpoint/2010/main" val="31958446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733" y="179595"/>
            <a:ext cx="10778067" cy="669491"/>
          </a:xfrm>
        </p:spPr>
        <p:txBody>
          <a:bodyPr>
            <a:normAutofit fontScale="90000"/>
          </a:bodyPr>
          <a:lstStyle/>
          <a:p>
            <a:pPr algn="ctr"/>
            <a:r>
              <a:rPr lang="en-GB" b="1" dirty="0">
                <a:latin typeface="Times New Roman" panose="02020603050405020304" pitchFamily="18" charset="0"/>
                <a:cs typeface="Times New Roman" panose="02020603050405020304" pitchFamily="18" charset="0"/>
              </a:rPr>
              <a:t>Evaluation</a:t>
            </a:r>
            <a:r>
              <a:rPr lang="en-GB" b="1" dirty="0" smtClean="0"/>
              <a:t> </a:t>
            </a:r>
            <a:r>
              <a:rPr lang="en-GB" b="1" dirty="0">
                <a:latin typeface="Times New Roman" panose="02020603050405020304" pitchFamily="18" charset="0"/>
                <a:cs typeface="Times New Roman" panose="02020603050405020304" pitchFamily="18" charset="0"/>
              </a:rPr>
              <a:t>Metrics</a:t>
            </a:r>
          </a:p>
        </p:txBody>
      </p:sp>
      <p:sp>
        <p:nvSpPr>
          <p:cNvPr id="3" name="Content Placeholder 2"/>
          <p:cNvSpPr>
            <a:spLocks noGrp="1"/>
          </p:cNvSpPr>
          <p:nvPr>
            <p:ph idx="1"/>
          </p:nvPr>
        </p:nvSpPr>
        <p:spPr>
          <a:xfrm>
            <a:off x="277587" y="1061356"/>
            <a:ext cx="11511642" cy="5519057"/>
          </a:xfrm>
        </p:spPr>
        <p:txBody>
          <a:bodyPr/>
          <a:lstStyle/>
          <a:p>
            <a:r>
              <a:rPr lang="en-GB" dirty="0" smtClean="0">
                <a:latin typeface="Times New Roman" panose="02020603050405020304" pitchFamily="18" charset="0"/>
                <a:cs typeface="Times New Roman" panose="02020603050405020304" pitchFamily="18" charset="0"/>
              </a:rPr>
              <a:t>The cleaned data set is imbalanced with 18.5% </a:t>
            </a:r>
            <a:r>
              <a:rPr lang="en-GB" dirty="0">
                <a:latin typeface="Times New Roman" panose="02020603050405020304" pitchFamily="18" charset="0"/>
                <a:cs typeface="Times New Roman" panose="02020603050405020304" pitchFamily="18" charset="0"/>
              </a:rPr>
              <a:t>a</a:t>
            </a:r>
            <a:r>
              <a:rPr lang="en-GB" dirty="0" smtClean="0">
                <a:latin typeface="Times New Roman" panose="02020603050405020304" pitchFamily="18" charset="0"/>
                <a:cs typeface="Times New Roman" panose="02020603050405020304" pitchFamily="18" charset="0"/>
              </a:rPr>
              <a:t>ttrition rate</a:t>
            </a:r>
          </a:p>
          <a:p>
            <a:r>
              <a:rPr lang="en-GB" dirty="0" smtClean="0">
                <a:latin typeface="Times New Roman" panose="02020603050405020304" pitchFamily="18" charset="0"/>
                <a:cs typeface="Times New Roman" panose="02020603050405020304" pitchFamily="18" charset="0"/>
              </a:rPr>
              <a:t>The primary </a:t>
            </a:r>
            <a:r>
              <a:rPr lang="en-GB" dirty="0">
                <a:latin typeface="Times New Roman" panose="02020603050405020304" pitchFamily="18" charset="0"/>
                <a:cs typeface="Times New Roman" panose="02020603050405020304" pitchFamily="18" charset="0"/>
              </a:rPr>
              <a:t>m</a:t>
            </a:r>
            <a:r>
              <a:rPr lang="en-GB" dirty="0" smtClean="0">
                <a:latin typeface="Times New Roman" panose="02020603050405020304" pitchFamily="18" charset="0"/>
                <a:cs typeface="Times New Roman" panose="02020603050405020304" pitchFamily="18" charset="0"/>
              </a:rPr>
              <a:t>etrics for this data set is F1 score and ROC-AUC</a:t>
            </a:r>
          </a:p>
          <a:p>
            <a:pPr marL="0" indent="0">
              <a:buNone/>
            </a:pPr>
            <a:endParaRPr lang="en-GB" dirty="0">
              <a:latin typeface="Times New Roman" panose="02020603050405020304" pitchFamily="18" charset="0"/>
              <a:cs typeface="Times New Roman" panose="02020603050405020304" pitchFamily="18" charset="0"/>
            </a:endParaRPr>
          </a:p>
          <a:p>
            <a:pPr marL="0" indent="0" algn="ctr">
              <a:buNone/>
            </a:pPr>
            <a:r>
              <a:rPr lang="en-GB" b="1" dirty="0" smtClean="0">
                <a:latin typeface="Times New Roman" panose="02020603050405020304" pitchFamily="18" charset="0"/>
                <a:cs typeface="Times New Roman" panose="02020603050405020304" pitchFamily="18" charset="0"/>
              </a:rPr>
              <a:t>     </a:t>
            </a:r>
            <a:r>
              <a:rPr lang="en-GB" sz="2600" b="1" dirty="0" smtClean="0">
                <a:latin typeface="Times New Roman" panose="02020603050405020304" pitchFamily="18" charset="0"/>
                <a:cs typeface="Times New Roman" panose="02020603050405020304" pitchFamily="18" charset="0"/>
              </a:rPr>
              <a:t>Performance of Classical ML and Neural Network models</a:t>
            </a:r>
          </a:p>
          <a:p>
            <a:pPr marL="0" indent="0">
              <a:buNone/>
            </a:pPr>
            <a:endParaRPr lang="en-GB" b="1" dirty="0" smtClean="0">
              <a:latin typeface="Times New Roman" panose="02020603050405020304" pitchFamily="18" charset="0"/>
              <a:cs typeface="Times New Roman" panose="02020603050405020304" pitchFamily="18" charset="0"/>
            </a:endParaRPr>
          </a:p>
          <a:p>
            <a:pPr marL="0" indent="0">
              <a:buNone/>
            </a:pPr>
            <a:endParaRPr lang="en-GB" b="1" dirty="0" smtClean="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842980341"/>
              </p:ext>
            </p:extLst>
          </p:nvPr>
        </p:nvGraphicFramePr>
        <p:xfrm>
          <a:off x="729645" y="3276599"/>
          <a:ext cx="10470242" cy="3133448"/>
        </p:xfrm>
        <a:graphic>
          <a:graphicData uri="http://schemas.openxmlformats.org/drawingml/2006/table">
            <a:tbl>
              <a:tblPr firstRow="1" bandRow="1">
                <a:tableStyleId>{5C22544A-7EE6-4342-B048-85BDC9FD1C3A}</a:tableStyleId>
              </a:tblPr>
              <a:tblGrid>
                <a:gridCol w="3226296">
                  <a:extLst>
                    <a:ext uri="{9D8B030D-6E8A-4147-A177-3AD203B41FA5}">
                      <a16:colId xmlns:a16="http://schemas.microsoft.com/office/drawing/2014/main" val="1923522258"/>
                    </a:ext>
                  </a:extLst>
                </a:gridCol>
                <a:gridCol w="2495813">
                  <a:extLst>
                    <a:ext uri="{9D8B030D-6E8A-4147-A177-3AD203B41FA5}">
                      <a16:colId xmlns:a16="http://schemas.microsoft.com/office/drawing/2014/main" val="3691911174"/>
                    </a:ext>
                  </a:extLst>
                </a:gridCol>
                <a:gridCol w="2126659">
                  <a:extLst>
                    <a:ext uri="{9D8B030D-6E8A-4147-A177-3AD203B41FA5}">
                      <a16:colId xmlns:a16="http://schemas.microsoft.com/office/drawing/2014/main" val="2617677805"/>
                    </a:ext>
                  </a:extLst>
                </a:gridCol>
                <a:gridCol w="2621474">
                  <a:extLst>
                    <a:ext uri="{9D8B030D-6E8A-4147-A177-3AD203B41FA5}">
                      <a16:colId xmlns:a16="http://schemas.microsoft.com/office/drawing/2014/main" val="1660587078"/>
                    </a:ext>
                  </a:extLst>
                </a:gridCol>
              </a:tblGrid>
              <a:tr h="663640">
                <a:tc>
                  <a:txBody>
                    <a:bodyPr/>
                    <a:lstStyle/>
                    <a:p>
                      <a:pPr algn="ctr"/>
                      <a:r>
                        <a:rPr lang="en-GB" sz="2000" dirty="0" smtClean="0">
                          <a:latin typeface="Times New Roman" panose="02020603050405020304" pitchFamily="18" charset="0"/>
                          <a:cs typeface="Times New Roman" panose="02020603050405020304" pitchFamily="18" charset="0"/>
                        </a:rPr>
                        <a:t>MODEL</a:t>
                      </a:r>
                      <a:endParaRPr lang="en-GB" sz="2000" dirty="0">
                        <a:latin typeface="Times New Roman" panose="02020603050405020304" pitchFamily="18" charset="0"/>
                        <a:cs typeface="Times New Roman" panose="02020603050405020304" pitchFamily="18" charset="0"/>
                      </a:endParaRPr>
                    </a:p>
                  </a:txBody>
                  <a:tcPr anchor="ctr"/>
                </a:tc>
                <a:tc>
                  <a:txBody>
                    <a:bodyPr/>
                    <a:lstStyle/>
                    <a:p>
                      <a:pPr algn="ctr"/>
                      <a:r>
                        <a:rPr lang="en-GB" sz="2000" dirty="0" smtClean="0">
                          <a:latin typeface="Times New Roman" panose="02020603050405020304" pitchFamily="18" charset="0"/>
                          <a:cs typeface="Times New Roman" panose="02020603050405020304" pitchFamily="18" charset="0"/>
                        </a:rPr>
                        <a:t>Accuracy (%)</a:t>
                      </a:r>
                      <a:endParaRPr lang="en-GB" sz="2000" dirty="0">
                        <a:latin typeface="Times New Roman" panose="02020603050405020304" pitchFamily="18" charset="0"/>
                        <a:cs typeface="Times New Roman" panose="02020603050405020304" pitchFamily="18" charset="0"/>
                      </a:endParaRPr>
                    </a:p>
                  </a:txBody>
                  <a:tcPr/>
                </a:tc>
                <a:tc>
                  <a:txBody>
                    <a:bodyPr/>
                    <a:lstStyle/>
                    <a:p>
                      <a:pPr algn="ctr"/>
                      <a:r>
                        <a:rPr lang="en-GB" sz="2000" dirty="0" smtClean="0">
                          <a:latin typeface="Times New Roman" panose="02020603050405020304" pitchFamily="18" charset="0"/>
                          <a:cs typeface="Times New Roman" panose="02020603050405020304" pitchFamily="18" charset="0"/>
                        </a:rPr>
                        <a:t>F1 Score</a:t>
                      </a:r>
                      <a:endParaRPr lang="en-GB" sz="2000" dirty="0">
                        <a:latin typeface="Times New Roman" panose="02020603050405020304" pitchFamily="18" charset="0"/>
                        <a:cs typeface="Times New Roman" panose="02020603050405020304" pitchFamily="18" charset="0"/>
                      </a:endParaRPr>
                    </a:p>
                  </a:txBody>
                  <a:tcPr>
                    <a:solidFill>
                      <a:schemeClr val="accent6">
                        <a:lumMod val="60000"/>
                        <a:lumOff val="40000"/>
                      </a:schemeClr>
                    </a:solidFill>
                  </a:tcPr>
                </a:tc>
                <a:tc>
                  <a:txBody>
                    <a:bodyPr/>
                    <a:lstStyle/>
                    <a:p>
                      <a:pPr algn="ctr"/>
                      <a:r>
                        <a:rPr lang="en-GB" sz="2000" dirty="0" smtClean="0">
                          <a:latin typeface="Times New Roman" panose="02020603050405020304" pitchFamily="18" charset="0"/>
                          <a:cs typeface="Times New Roman" panose="02020603050405020304" pitchFamily="18" charset="0"/>
                        </a:rPr>
                        <a:t>ROC-AUC</a:t>
                      </a:r>
                      <a:endParaRPr lang="en-GB"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64208590"/>
                  </a:ext>
                </a:extLst>
              </a:tr>
              <a:tr h="649146">
                <a:tc>
                  <a:txBody>
                    <a:bodyPr/>
                    <a:lstStyle/>
                    <a:p>
                      <a:pPr algn="ctr"/>
                      <a:r>
                        <a:rPr lang="en-GB" sz="2000" b="0" i="0" kern="1200" dirty="0" smtClean="0">
                          <a:solidFill>
                            <a:schemeClr val="dk1"/>
                          </a:solidFill>
                          <a:effectLst/>
                          <a:latin typeface="Times New Roman" panose="02020603050405020304" pitchFamily="18" charset="0"/>
                          <a:ea typeface="+mn-ea"/>
                          <a:cs typeface="Times New Roman" panose="02020603050405020304" pitchFamily="18" charset="0"/>
                        </a:rPr>
                        <a:t>Logistic Regression </a:t>
                      </a:r>
                      <a:endParaRPr lang="en-GB" sz="2000" dirty="0">
                        <a:latin typeface="Times New Roman" panose="02020603050405020304" pitchFamily="18" charset="0"/>
                        <a:cs typeface="Times New Roman" panose="02020603050405020304" pitchFamily="18" charset="0"/>
                      </a:endParaRPr>
                    </a:p>
                  </a:txBody>
                  <a:tcPr anchor="ctr"/>
                </a:tc>
                <a:tc>
                  <a:txBody>
                    <a:bodyPr/>
                    <a:lstStyle/>
                    <a:p>
                      <a:pPr algn="ctr"/>
                      <a:r>
                        <a:rPr lang="en-GB" sz="2000" b="0" i="0" kern="1200" dirty="0" smtClean="0">
                          <a:solidFill>
                            <a:schemeClr val="dk1"/>
                          </a:solidFill>
                          <a:effectLst/>
                          <a:latin typeface="Times New Roman" panose="02020603050405020304" pitchFamily="18" charset="0"/>
                          <a:ea typeface="+mn-ea"/>
                          <a:cs typeface="Times New Roman" panose="02020603050405020304" pitchFamily="18" charset="0"/>
                        </a:rPr>
                        <a:t>0.8477</a:t>
                      </a:r>
                      <a:endParaRPr lang="en-GB" sz="2000" dirty="0">
                        <a:latin typeface="Times New Roman" panose="02020603050405020304" pitchFamily="18" charset="0"/>
                        <a:cs typeface="Times New Roman" panose="02020603050405020304" pitchFamily="18" charset="0"/>
                      </a:endParaRPr>
                    </a:p>
                  </a:txBody>
                  <a:tcPr/>
                </a:tc>
                <a:tc>
                  <a:txBody>
                    <a:bodyPr/>
                    <a:lstStyle/>
                    <a:p>
                      <a:pPr algn="ctr"/>
                      <a:r>
                        <a:rPr lang="en-GB" sz="2000" b="0" i="0" kern="1200" dirty="0" smtClean="0">
                          <a:solidFill>
                            <a:schemeClr val="dk1"/>
                          </a:solidFill>
                          <a:effectLst/>
                          <a:latin typeface="Times New Roman" panose="02020603050405020304" pitchFamily="18" charset="0"/>
                          <a:ea typeface="+mn-ea"/>
                          <a:cs typeface="Times New Roman" panose="02020603050405020304" pitchFamily="18" charset="0"/>
                        </a:rPr>
                        <a:t>0.5618</a:t>
                      </a:r>
                      <a:endParaRPr lang="en-GB" sz="2000" dirty="0">
                        <a:latin typeface="Times New Roman" panose="02020603050405020304" pitchFamily="18" charset="0"/>
                        <a:cs typeface="Times New Roman" panose="02020603050405020304" pitchFamily="18" charset="0"/>
                      </a:endParaRPr>
                    </a:p>
                  </a:txBody>
                  <a:tcPr>
                    <a:solidFill>
                      <a:schemeClr val="accent6">
                        <a:lumMod val="60000"/>
                        <a:lumOff val="40000"/>
                      </a:schemeClr>
                    </a:solidFill>
                  </a:tcPr>
                </a:tc>
                <a:tc>
                  <a:txBody>
                    <a:bodyPr/>
                    <a:lstStyle/>
                    <a:p>
                      <a:pPr algn="ctr"/>
                      <a:r>
                        <a:rPr lang="en-GB" sz="2000" b="0" i="0" kern="1200" dirty="0" smtClean="0">
                          <a:solidFill>
                            <a:schemeClr val="dk1"/>
                          </a:solidFill>
                          <a:effectLst/>
                          <a:latin typeface="Times New Roman" panose="02020603050405020304" pitchFamily="18" charset="0"/>
                          <a:ea typeface="+mn-ea"/>
                          <a:cs typeface="Times New Roman" panose="02020603050405020304" pitchFamily="18" charset="0"/>
                        </a:rPr>
                        <a:t>0.8492</a:t>
                      </a:r>
                      <a:endParaRPr lang="en-GB"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68448100"/>
                  </a:ext>
                </a:extLst>
              </a:tr>
              <a:tr h="740094">
                <a:tc>
                  <a:txBody>
                    <a:bodyPr/>
                    <a:lstStyle/>
                    <a:p>
                      <a:pPr algn="ctr"/>
                      <a:r>
                        <a:rPr lang="en-GB" sz="2000" b="0" i="0" kern="1200" dirty="0" smtClean="0">
                          <a:solidFill>
                            <a:schemeClr val="dk1"/>
                          </a:solidFill>
                          <a:effectLst/>
                          <a:latin typeface="Times New Roman" panose="02020603050405020304" pitchFamily="18" charset="0"/>
                          <a:ea typeface="+mn-ea"/>
                          <a:cs typeface="Times New Roman" panose="02020603050405020304" pitchFamily="18" charset="0"/>
                        </a:rPr>
                        <a:t>Random Forest</a:t>
                      </a:r>
                      <a:endParaRPr lang="en-GB" sz="2000" dirty="0">
                        <a:latin typeface="Times New Roman" panose="02020603050405020304" pitchFamily="18" charset="0"/>
                        <a:cs typeface="Times New Roman" panose="02020603050405020304" pitchFamily="18" charset="0"/>
                      </a:endParaRPr>
                    </a:p>
                  </a:txBody>
                  <a:tcPr anchor="ctr"/>
                </a:tc>
                <a:tc>
                  <a:txBody>
                    <a:bodyPr/>
                    <a:lstStyle/>
                    <a:p>
                      <a:pPr algn="ctr"/>
                      <a:r>
                        <a:rPr lang="en-GB" sz="2000" b="0" i="0" kern="1200" dirty="0" smtClean="0">
                          <a:solidFill>
                            <a:schemeClr val="dk1"/>
                          </a:solidFill>
                          <a:effectLst/>
                          <a:latin typeface="Times New Roman" panose="02020603050405020304" pitchFamily="18" charset="0"/>
                          <a:ea typeface="+mn-ea"/>
                          <a:cs typeface="Times New Roman" panose="02020603050405020304" pitchFamily="18" charset="0"/>
                        </a:rPr>
                        <a:t>0.8984</a:t>
                      </a:r>
                      <a:endParaRPr lang="en-GB" sz="2000" dirty="0">
                        <a:latin typeface="Times New Roman" panose="02020603050405020304" pitchFamily="18" charset="0"/>
                        <a:cs typeface="Times New Roman" panose="02020603050405020304" pitchFamily="18" charset="0"/>
                      </a:endParaRPr>
                    </a:p>
                  </a:txBody>
                  <a:tcPr/>
                </a:tc>
                <a:tc>
                  <a:txBody>
                    <a:bodyPr/>
                    <a:lstStyle/>
                    <a:p>
                      <a:pPr algn="ctr"/>
                      <a:r>
                        <a:rPr lang="en-GB" sz="2000" b="0" i="0" kern="1200" dirty="0" smtClean="0">
                          <a:solidFill>
                            <a:schemeClr val="dk1"/>
                          </a:solidFill>
                          <a:effectLst/>
                          <a:latin typeface="Times New Roman" panose="02020603050405020304" pitchFamily="18" charset="0"/>
                          <a:ea typeface="+mn-ea"/>
                          <a:cs typeface="Times New Roman" panose="02020603050405020304" pitchFamily="18" charset="0"/>
                        </a:rPr>
                        <a:t>0.6977</a:t>
                      </a:r>
                      <a:endParaRPr lang="en-GB" sz="2000" dirty="0">
                        <a:latin typeface="Times New Roman" panose="02020603050405020304" pitchFamily="18" charset="0"/>
                        <a:cs typeface="Times New Roman" panose="02020603050405020304" pitchFamily="18" charset="0"/>
                      </a:endParaRPr>
                    </a:p>
                  </a:txBody>
                  <a:tcPr>
                    <a:solidFill>
                      <a:schemeClr val="accent6">
                        <a:lumMod val="60000"/>
                        <a:lumOff val="40000"/>
                      </a:schemeClr>
                    </a:solidFill>
                  </a:tcPr>
                </a:tc>
                <a:tc>
                  <a:txBody>
                    <a:bodyPr/>
                    <a:lstStyle/>
                    <a:p>
                      <a:pPr algn="ctr"/>
                      <a:r>
                        <a:rPr lang="en-GB" sz="2000" b="0" i="0" kern="1200" dirty="0" smtClean="0">
                          <a:solidFill>
                            <a:schemeClr val="dk1"/>
                          </a:solidFill>
                          <a:effectLst/>
                          <a:latin typeface="Times New Roman" panose="02020603050405020304" pitchFamily="18" charset="0"/>
                          <a:ea typeface="+mn-ea"/>
                          <a:cs typeface="Times New Roman" panose="02020603050405020304" pitchFamily="18" charset="0"/>
                        </a:rPr>
                        <a:t>0.9072</a:t>
                      </a:r>
                      <a:endParaRPr lang="en-GB"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24122376"/>
                  </a:ext>
                </a:extLst>
              </a:tr>
              <a:tr h="540284">
                <a:tc>
                  <a:txBody>
                    <a:bodyPr/>
                    <a:lstStyle/>
                    <a:p>
                      <a:pPr marL="0" algn="ctr" defTabSz="914400" rtl="0" eaLnBrk="1" latinLnBrk="0" hangingPunct="1"/>
                      <a:r>
                        <a:rPr lang="en-GB" sz="2000" b="0" i="0" kern="1200" dirty="0" smtClean="0">
                          <a:solidFill>
                            <a:schemeClr val="dk1"/>
                          </a:solidFill>
                          <a:effectLst/>
                          <a:latin typeface="Times New Roman" panose="02020603050405020304" pitchFamily="18" charset="0"/>
                          <a:ea typeface="+mn-ea"/>
                          <a:cs typeface="Times New Roman" panose="02020603050405020304" pitchFamily="18" charset="0"/>
                        </a:rPr>
                        <a:t>Gradient Boosting</a:t>
                      </a:r>
                      <a:endParaRPr lang="en-GB" sz="20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marL="0" algn="ctr" defTabSz="914400" rtl="0" eaLnBrk="1" latinLnBrk="0" hangingPunct="1"/>
                      <a:r>
                        <a:rPr lang="en-GB" sz="2000" b="0" i="0" kern="1200" dirty="0" smtClean="0">
                          <a:solidFill>
                            <a:schemeClr val="dk1"/>
                          </a:solidFill>
                          <a:effectLst/>
                          <a:latin typeface="Times New Roman" panose="02020603050405020304" pitchFamily="18" charset="0"/>
                          <a:ea typeface="+mn-ea"/>
                          <a:cs typeface="Times New Roman" panose="02020603050405020304" pitchFamily="18" charset="0"/>
                        </a:rPr>
                        <a:t>0.9062</a:t>
                      </a:r>
                      <a:endParaRPr lang="en-GB" sz="20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marL="0" algn="ctr" defTabSz="914400" rtl="0" eaLnBrk="1" latinLnBrk="0" hangingPunct="1"/>
                      <a:r>
                        <a:rPr lang="en-GB" sz="2000" b="0" i="0" kern="1200" dirty="0" smtClean="0">
                          <a:solidFill>
                            <a:schemeClr val="dk1"/>
                          </a:solidFill>
                          <a:effectLst/>
                          <a:latin typeface="Times New Roman" panose="02020603050405020304" pitchFamily="18" charset="0"/>
                          <a:ea typeface="+mn-ea"/>
                          <a:cs typeface="Times New Roman" panose="02020603050405020304" pitchFamily="18" charset="0"/>
                        </a:rPr>
                        <a:t>0.7143</a:t>
                      </a:r>
                      <a:endParaRPr lang="en-GB" sz="20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solidFill>
                      <a:schemeClr val="accent6">
                        <a:lumMod val="60000"/>
                        <a:lumOff val="40000"/>
                      </a:schemeClr>
                    </a:solidFill>
                  </a:tcPr>
                </a:tc>
                <a:tc>
                  <a:txBody>
                    <a:bodyPr/>
                    <a:lstStyle/>
                    <a:p>
                      <a:pPr marL="0" algn="ctr" defTabSz="914400" rtl="0" eaLnBrk="1" latinLnBrk="0" hangingPunct="1"/>
                      <a:r>
                        <a:rPr lang="en-GB" sz="2000" b="0" i="0" kern="1200" dirty="0" smtClean="0">
                          <a:solidFill>
                            <a:schemeClr val="dk1"/>
                          </a:solidFill>
                          <a:effectLst/>
                          <a:latin typeface="Times New Roman" panose="02020603050405020304" pitchFamily="18" charset="0"/>
                          <a:ea typeface="+mn-ea"/>
                          <a:cs typeface="Times New Roman" panose="02020603050405020304" pitchFamily="18" charset="0"/>
                        </a:rPr>
                        <a:t>0.8776</a:t>
                      </a:r>
                      <a:endParaRPr lang="en-GB" sz="20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950701055"/>
                  </a:ext>
                </a:extLst>
              </a:tr>
              <a:tr h="540284">
                <a:tc>
                  <a:txBody>
                    <a:bodyPr/>
                    <a:lstStyle/>
                    <a:p>
                      <a:pPr marL="0" algn="ctr" defTabSz="914400" rtl="0" eaLnBrk="1" latinLnBrk="0" hangingPunct="1"/>
                      <a:r>
                        <a:rPr lang="en-GB" sz="2000" b="0" i="0" kern="1200" dirty="0" smtClean="0">
                          <a:solidFill>
                            <a:schemeClr val="dk1"/>
                          </a:solidFill>
                          <a:effectLst/>
                          <a:latin typeface="Times New Roman" panose="02020603050405020304" pitchFamily="18" charset="0"/>
                          <a:ea typeface="+mn-ea"/>
                          <a:cs typeface="Times New Roman" panose="02020603050405020304" pitchFamily="18" charset="0"/>
                        </a:rPr>
                        <a:t>Neural Network</a:t>
                      </a:r>
                      <a:endParaRPr lang="en-GB" sz="20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marL="0" algn="ctr" defTabSz="914400" rtl="0" eaLnBrk="1" latinLnBrk="0" hangingPunct="1"/>
                      <a:r>
                        <a:rPr lang="en-GB" sz="2000" b="0" i="0" kern="1200" dirty="0" smtClean="0">
                          <a:solidFill>
                            <a:schemeClr val="dk1"/>
                          </a:solidFill>
                          <a:effectLst/>
                          <a:latin typeface="Times New Roman" panose="02020603050405020304" pitchFamily="18" charset="0"/>
                          <a:ea typeface="+mn-ea"/>
                          <a:cs typeface="Times New Roman" panose="02020603050405020304" pitchFamily="18" charset="0"/>
                        </a:rPr>
                        <a:t>0.8594</a:t>
                      </a:r>
                      <a:endParaRPr lang="en-GB" sz="20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marL="0" algn="ctr" defTabSz="914400" rtl="0" eaLnBrk="1" latinLnBrk="0" hangingPunct="1"/>
                      <a:r>
                        <a:rPr lang="en-GB" sz="2000" b="0" i="0" kern="1200" dirty="0" smtClean="0">
                          <a:solidFill>
                            <a:schemeClr val="dk1"/>
                          </a:solidFill>
                          <a:effectLst/>
                          <a:latin typeface="Times New Roman" panose="02020603050405020304" pitchFamily="18" charset="0"/>
                          <a:ea typeface="+mn-ea"/>
                          <a:cs typeface="Times New Roman" panose="02020603050405020304" pitchFamily="18" charset="0"/>
                        </a:rPr>
                        <a:t>0.6136</a:t>
                      </a:r>
                      <a:endParaRPr lang="en-GB" sz="20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solidFill>
                      <a:schemeClr val="accent6">
                        <a:lumMod val="60000"/>
                        <a:lumOff val="40000"/>
                      </a:schemeClr>
                    </a:solidFill>
                  </a:tcPr>
                </a:tc>
                <a:tc>
                  <a:txBody>
                    <a:bodyPr/>
                    <a:lstStyle/>
                    <a:p>
                      <a:pPr marL="0" algn="ctr" defTabSz="914400" rtl="0" eaLnBrk="1" latinLnBrk="0" hangingPunct="1"/>
                      <a:r>
                        <a:rPr lang="en-GB" sz="2000" b="0" i="0" kern="1200" dirty="0" smtClean="0">
                          <a:solidFill>
                            <a:schemeClr val="dk1"/>
                          </a:solidFill>
                          <a:effectLst/>
                          <a:latin typeface="Times New Roman" panose="02020603050405020304" pitchFamily="18" charset="0"/>
                          <a:ea typeface="+mn-ea"/>
                          <a:cs typeface="Times New Roman" panose="02020603050405020304" pitchFamily="18" charset="0"/>
                        </a:rPr>
                        <a:t>0.8777</a:t>
                      </a:r>
                      <a:endParaRPr lang="en-GB" sz="20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858923072"/>
                  </a:ext>
                </a:extLst>
              </a:tr>
            </a:tbl>
          </a:graphicData>
        </a:graphic>
      </p:graphicFrame>
    </p:spTree>
    <p:extLst>
      <p:ext uri="{BB962C8B-B14F-4D97-AF65-F5344CB8AC3E}">
        <p14:creationId xmlns:p14="http://schemas.microsoft.com/office/powerpoint/2010/main" val="8985942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b="42455"/>
          <a:stretch/>
        </p:blipFill>
        <p:spPr>
          <a:xfrm>
            <a:off x="152398" y="0"/>
            <a:ext cx="11904135" cy="5249863"/>
          </a:xfrm>
          <a:prstGeom prst="rect">
            <a:avLst/>
          </a:prstGeom>
        </p:spPr>
      </p:pic>
      <p:sp>
        <p:nvSpPr>
          <p:cNvPr id="5" name="TextBox 4"/>
          <p:cNvSpPr txBox="1"/>
          <p:nvPr/>
        </p:nvSpPr>
        <p:spPr>
          <a:xfrm>
            <a:off x="287867" y="5249863"/>
            <a:ext cx="11734800" cy="1150764"/>
          </a:xfrm>
          <a:prstGeom prst="rect">
            <a:avLst/>
          </a:prstGeom>
          <a:noFill/>
        </p:spPr>
        <p:txBody>
          <a:bodyPr wrap="square" rtlCol="0">
            <a:spAutoFit/>
          </a:bodyPr>
          <a:lstStyle/>
          <a:p>
            <a:pPr marL="228600" indent="-228600">
              <a:lnSpc>
                <a:spcPct val="140000"/>
              </a:lnSpc>
              <a:spcBef>
                <a:spcPts val="1000"/>
              </a:spcBef>
              <a:buFont typeface="Arial" panose="020B0604020202020204" pitchFamily="34" charset="0"/>
              <a:buChar char="•"/>
            </a:pPr>
            <a:r>
              <a:rPr lang="en-GB" dirty="0" smtClean="0"/>
              <a:t> </a:t>
            </a:r>
            <a:r>
              <a:rPr lang="en-GB" sz="2600" dirty="0">
                <a:latin typeface="Times New Roman" panose="02020603050405020304" pitchFamily="18" charset="0"/>
                <a:cs typeface="Times New Roman" panose="02020603050405020304" pitchFamily="18" charset="0"/>
              </a:rPr>
              <a:t>The Gradient Boosting model has a better prediction for True Positives and True  Negatives when compared to the other models</a:t>
            </a:r>
          </a:p>
        </p:txBody>
      </p:sp>
    </p:spTree>
    <p:extLst>
      <p:ext uri="{BB962C8B-B14F-4D97-AF65-F5344CB8AC3E}">
        <p14:creationId xmlns:p14="http://schemas.microsoft.com/office/powerpoint/2010/main" val="15755173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a:srcRect l="5923" t="7165" r="2431" b="311"/>
          <a:stretch/>
        </p:blipFill>
        <p:spPr>
          <a:xfrm>
            <a:off x="5380183" y="800100"/>
            <a:ext cx="6811817" cy="5780314"/>
          </a:xfrm>
          <a:prstGeom prst="rect">
            <a:avLst/>
          </a:prstGeom>
        </p:spPr>
      </p:pic>
      <p:sp>
        <p:nvSpPr>
          <p:cNvPr id="8" name="TextBox 7"/>
          <p:cNvSpPr txBox="1"/>
          <p:nvPr/>
        </p:nvSpPr>
        <p:spPr>
          <a:xfrm>
            <a:off x="600884" y="3353013"/>
            <a:ext cx="4327071" cy="923330"/>
          </a:xfrm>
          <a:prstGeom prst="rect">
            <a:avLst/>
          </a:prstGeom>
          <a:noFill/>
        </p:spPr>
        <p:txBody>
          <a:bodyPr wrap="square" rtlCol="0">
            <a:spAutoFit/>
          </a:bodyPr>
          <a:lstStyle/>
          <a:p>
            <a:r>
              <a:rPr lang="en-GB" dirty="0" smtClean="0"/>
              <a:t>The models had 187 instances of True “No  Attrition”  and 26 instances of  True “Attritions”  </a:t>
            </a:r>
            <a:endParaRPr lang="en-GB" dirty="0"/>
          </a:p>
        </p:txBody>
      </p:sp>
      <p:pic>
        <p:nvPicPr>
          <p:cNvPr id="9" name="Picture 8"/>
          <p:cNvPicPr>
            <a:picLocks noChangeAspect="1"/>
          </p:cNvPicPr>
          <p:nvPr/>
        </p:nvPicPr>
        <p:blipFill>
          <a:blip r:embed="rId4"/>
          <a:stretch>
            <a:fillRect/>
          </a:stretch>
        </p:blipFill>
        <p:spPr>
          <a:xfrm>
            <a:off x="600884" y="996043"/>
            <a:ext cx="3943900" cy="1524213"/>
          </a:xfrm>
          <a:prstGeom prst="rect">
            <a:avLst/>
          </a:prstGeom>
        </p:spPr>
      </p:pic>
    </p:spTree>
    <p:extLst>
      <p:ext uri="{BB962C8B-B14F-4D97-AF65-F5344CB8AC3E}">
        <p14:creationId xmlns:p14="http://schemas.microsoft.com/office/powerpoint/2010/main" val="17689039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srcRect r="50920" b="33929"/>
          <a:stretch/>
        </p:blipFill>
        <p:spPr>
          <a:xfrm>
            <a:off x="504824" y="326571"/>
            <a:ext cx="7054619" cy="5339443"/>
          </a:xfrm>
          <a:prstGeom prst="rect">
            <a:avLst/>
          </a:prstGeom>
          <a:ln>
            <a:solidFill>
              <a:schemeClr val="tx1"/>
            </a:solidFill>
          </a:ln>
        </p:spPr>
      </p:pic>
      <p:sp>
        <p:nvSpPr>
          <p:cNvPr id="6" name="TextBox 5"/>
          <p:cNvSpPr txBox="1"/>
          <p:nvPr/>
        </p:nvSpPr>
        <p:spPr>
          <a:xfrm>
            <a:off x="7756071" y="326571"/>
            <a:ext cx="4278086" cy="369332"/>
          </a:xfrm>
          <a:prstGeom prst="rect">
            <a:avLst/>
          </a:prstGeom>
          <a:noFill/>
        </p:spPr>
        <p:txBody>
          <a:bodyPr wrap="square" rtlCol="0">
            <a:spAutoFit/>
          </a:bodyPr>
          <a:lstStyle/>
          <a:p>
            <a:pPr marL="285750" indent="-285750">
              <a:buFont typeface="Arial" panose="020B0604020202020204" pitchFamily="34" charset="0"/>
              <a:buChar char="•"/>
            </a:pPr>
            <a:endParaRPr lang="en-GB" dirty="0"/>
          </a:p>
        </p:txBody>
      </p:sp>
      <p:sp>
        <p:nvSpPr>
          <p:cNvPr id="7" name="TextBox 6"/>
          <p:cNvSpPr txBox="1"/>
          <p:nvPr/>
        </p:nvSpPr>
        <p:spPr>
          <a:xfrm>
            <a:off x="7756071" y="489857"/>
            <a:ext cx="4278086" cy="5909310"/>
          </a:xfrm>
          <a:prstGeom prst="rect">
            <a:avLst/>
          </a:prstGeom>
          <a:noFill/>
        </p:spPr>
        <p:txBody>
          <a:bodyPr wrap="square" rtlCol="0">
            <a:spAutoFit/>
          </a:bodyPr>
          <a:lstStyle/>
          <a:p>
            <a:pPr marL="285750" indent="-285750">
              <a:buFont typeface="Arial" panose="020B0604020202020204" pitchFamily="34" charset="0"/>
              <a:buChar char="•"/>
            </a:pPr>
            <a:r>
              <a:rPr lang="en-GB" dirty="0" smtClean="0"/>
              <a:t>True Positive Rate – the fraction of all employees who left that the model correctly identified</a:t>
            </a:r>
          </a:p>
          <a:p>
            <a:endParaRPr lang="en-GB" dirty="0" smtClean="0"/>
          </a:p>
          <a:p>
            <a:pPr marL="285750" indent="-285750">
              <a:buFont typeface="Arial" panose="020B0604020202020204" pitchFamily="34" charset="0"/>
              <a:buChar char="•"/>
            </a:pPr>
            <a:r>
              <a:rPr lang="en-GB" dirty="0" smtClean="0"/>
              <a:t>False Positive – the fraction of all employees who stayed that the model wrongly flagged with ‘Yes’ attrition</a:t>
            </a:r>
          </a:p>
          <a:p>
            <a:endParaRPr lang="en-GB" dirty="0" smtClean="0"/>
          </a:p>
          <a:p>
            <a:pPr marL="285750" indent="-285750">
              <a:buFont typeface="Arial" panose="020B0604020202020204" pitchFamily="34" charset="0"/>
              <a:buChar char="•"/>
            </a:pPr>
            <a:r>
              <a:rPr lang="en-GB" dirty="0" smtClean="0"/>
              <a:t>At AUC = 0.91, the model is able to correctly flag those at risk of leaving 91% of the time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It can achieve a </a:t>
            </a:r>
            <a:r>
              <a:rPr lang="en-GB" dirty="0" smtClean="0"/>
              <a:t>88%  </a:t>
            </a:r>
            <a:r>
              <a:rPr lang="en-GB" dirty="0"/>
              <a:t>True positive rate while maintaining the false positive at </a:t>
            </a:r>
            <a:r>
              <a:rPr lang="en-GB" dirty="0" smtClean="0"/>
              <a:t>15%</a:t>
            </a:r>
          </a:p>
          <a:p>
            <a:pPr marL="285750" indent="-285750">
              <a:buFont typeface="Arial" panose="020B0604020202020204" pitchFamily="34" charset="0"/>
              <a:buChar char="•"/>
            </a:pPr>
            <a:endParaRPr lang="en-GB" dirty="0" smtClean="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smtClean="0"/>
          </a:p>
          <a:p>
            <a:pPr marL="285750" indent="-285750">
              <a:buFont typeface="Arial" panose="020B0604020202020204" pitchFamily="34" charset="0"/>
              <a:buChar char="•"/>
            </a:pPr>
            <a:endParaRPr lang="en-GB" dirty="0" smtClean="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298067105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756071" y="489857"/>
            <a:ext cx="4278086" cy="6186309"/>
          </a:xfrm>
          <a:prstGeom prst="rect">
            <a:avLst/>
          </a:prstGeom>
          <a:noFill/>
        </p:spPr>
        <p:txBody>
          <a:bodyPr wrap="square" rtlCol="0">
            <a:spAutoFit/>
          </a:bodyPr>
          <a:lstStyle/>
          <a:p>
            <a:pPr marL="285750" indent="-285750">
              <a:buFont typeface="Arial" panose="020B0604020202020204" pitchFamily="34" charset="0"/>
              <a:buChar char="•"/>
            </a:pPr>
            <a:endParaRPr lang="en-GB" dirty="0" smtClean="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smtClean="0">
                <a:latin typeface="Times New Roman" panose="02020603050405020304" pitchFamily="18" charset="0"/>
                <a:cs typeface="Times New Roman" panose="02020603050405020304" pitchFamily="18" charset="0"/>
              </a:rPr>
              <a:t>True Positive Rate – the fraction of all employees who left that the model correctly identified</a:t>
            </a:r>
          </a:p>
          <a:p>
            <a:endParaRPr lang="en-GB"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smtClean="0">
                <a:latin typeface="Times New Roman" panose="02020603050405020304" pitchFamily="18" charset="0"/>
                <a:cs typeface="Times New Roman" panose="02020603050405020304" pitchFamily="18" charset="0"/>
              </a:rPr>
              <a:t>False Positive – the fraction of all employees who stayed that the model wrongly flagged with ‘Yes’ attrition</a:t>
            </a:r>
          </a:p>
          <a:p>
            <a:endParaRPr lang="en-GB"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smtClean="0">
                <a:latin typeface="Times New Roman" panose="02020603050405020304" pitchFamily="18" charset="0"/>
                <a:cs typeface="Times New Roman" panose="02020603050405020304" pitchFamily="18" charset="0"/>
              </a:rPr>
              <a:t>At AUC = 0.8671, the model is able to correctly flag those at risk of leaving 86.71% of the time</a:t>
            </a:r>
          </a:p>
          <a:p>
            <a:endParaRPr lang="en-GB"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smtClean="0">
                <a:latin typeface="Times New Roman" panose="02020603050405020304" pitchFamily="18" charset="0"/>
                <a:cs typeface="Times New Roman" panose="02020603050405020304" pitchFamily="18" charset="0"/>
              </a:rPr>
              <a:t>It can achieve a 70%  True positive rate while maintaining the false positive at 20%</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smtClean="0"/>
          </a:p>
          <a:p>
            <a:pPr marL="285750" indent="-285750">
              <a:buFont typeface="Arial" panose="020B0604020202020204" pitchFamily="34" charset="0"/>
              <a:buChar char="•"/>
            </a:pPr>
            <a:endParaRPr lang="en-GB" dirty="0" smtClean="0"/>
          </a:p>
          <a:p>
            <a:pPr marL="285750" indent="-285750">
              <a:buFont typeface="Arial" panose="020B0604020202020204" pitchFamily="34" charset="0"/>
              <a:buChar char="•"/>
            </a:pPr>
            <a:endParaRPr lang="en-GB" dirty="0"/>
          </a:p>
        </p:txBody>
      </p:sp>
      <p:pic>
        <p:nvPicPr>
          <p:cNvPr id="8" name="Picture 7"/>
          <p:cNvPicPr>
            <a:picLocks noChangeAspect="1"/>
          </p:cNvPicPr>
          <p:nvPr/>
        </p:nvPicPr>
        <p:blipFill>
          <a:blip r:embed="rId3"/>
          <a:stretch>
            <a:fillRect/>
          </a:stretch>
        </p:blipFill>
        <p:spPr>
          <a:xfrm>
            <a:off x="352707" y="725198"/>
            <a:ext cx="7182347" cy="5119971"/>
          </a:xfrm>
          <a:prstGeom prst="rect">
            <a:avLst/>
          </a:prstGeom>
        </p:spPr>
      </p:pic>
    </p:spTree>
    <p:extLst>
      <p:ext uri="{BB962C8B-B14F-4D97-AF65-F5344CB8AC3E}">
        <p14:creationId xmlns:p14="http://schemas.microsoft.com/office/powerpoint/2010/main" val="108116341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9857" y="1"/>
            <a:ext cx="10863943" cy="865414"/>
          </a:xfrm>
        </p:spPr>
        <p:txBody>
          <a:bodyPr/>
          <a:lstStyle/>
          <a:p>
            <a:r>
              <a:rPr lang="en-GB" b="1" dirty="0" smtClean="0"/>
              <a:t>Neural network Metrics</a:t>
            </a:r>
            <a:endParaRPr lang="en-GB" b="1" dirty="0"/>
          </a:p>
        </p:txBody>
      </p:sp>
      <p:pic>
        <p:nvPicPr>
          <p:cNvPr id="7" name="Picture 6"/>
          <p:cNvPicPr>
            <a:picLocks noChangeAspect="1"/>
          </p:cNvPicPr>
          <p:nvPr/>
        </p:nvPicPr>
        <p:blipFill>
          <a:blip r:embed="rId3"/>
          <a:stretch>
            <a:fillRect/>
          </a:stretch>
        </p:blipFill>
        <p:spPr>
          <a:xfrm>
            <a:off x="489856" y="865414"/>
            <a:ext cx="7236392" cy="5116285"/>
          </a:xfrm>
          <a:prstGeom prst="rect">
            <a:avLst/>
          </a:prstGeom>
        </p:spPr>
      </p:pic>
      <p:sp>
        <p:nvSpPr>
          <p:cNvPr id="10" name="TextBox 9"/>
          <p:cNvSpPr txBox="1"/>
          <p:nvPr/>
        </p:nvSpPr>
        <p:spPr>
          <a:xfrm>
            <a:off x="7867650" y="1162050"/>
            <a:ext cx="3867150" cy="646331"/>
          </a:xfrm>
          <a:prstGeom prst="rect">
            <a:avLst/>
          </a:prstGeom>
          <a:noFill/>
        </p:spPr>
        <p:txBody>
          <a:bodyPr wrap="square" rtlCol="0">
            <a:spAutoFit/>
          </a:bodyPr>
          <a:lstStyle/>
          <a:p>
            <a:pPr marL="285750" indent="-285750">
              <a:buFont typeface="Arial" panose="020B0604020202020204" pitchFamily="34" charset="0"/>
              <a:buChar char="•"/>
            </a:pPr>
            <a:r>
              <a:rPr lang="en-GB" dirty="0" smtClean="0">
                <a:latin typeface="Times New Roman" panose="02020603050405020304" pitchFamily="18" charset="0"/>
                <a:cs typeface="Times New Roman" panose="02020603050405020304" pitchFamily="18" charset="0"/>
              </a:rPr>
              <a:t>The model is reliable as the error is </a:t>
            </a:r>
            <a:r>
              <a:rPr lang="en-GB" dirty="0">
                <a:latin typeface="Times New Roman" panose="02020603050405020304" pitchFamily="18" charset="0"/>
                <a:cs typeface="Times New Roman" panose="02020603050405020304" pitchFamily="18" charset="0"/>
              </a:rPr>
              <a:t>dropping</a:t>
            </a:r>
            <a:r>
              <a:rPr lang="en-GB" dirty="0" smtClean="0">
                <a:latin typeface="Times New Roman" panose="02020603050405020304" pitchFamily="18" charset="0"/>
                <a:cs typeface="Times New Roman" panose="02020603050405020304" pitchFamily="18" charset="0"/>
              </a:rPr>
              <a:t> consistently </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528771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763250" cy="979526"/>
          </a:xfrm>
        </p:spPr>
        <p:txBody>
          <a:bodyPr/>
          <a:lstStyle/>
          <a:p>
            <a:pPr algn="ctr"/>
            <a:r>
              <a:rPr lang="en-GB" sz="3200" b="1" dirty="0" smtClean="0"/>
              <a:t>Comparative study of  the Two models </a:t>
            </a:r>
            <a:endParaRPr lang="en-GB" dirty="0"/>
          </a:p>
        </p:txBody>
      </p:sp>
      <p:sp>
        <p:nvSpPr>
          <p:cNvPr id="5" name="TextBox 4"/>
          <p:cNvSpPr txBox="1"/>
          <p:nvPr/>
        </p:nvSpPr>
        <p:spPr>
          <a:xfrm>
            <a:off x="266700" y="979526"/>
            <a:ext cx="11772900" cy="1569660"/>
          </a:xfrm>
          <a:prstGeom prst="rect">
            <a:avLst/>
          </a:prstGeom>
          <a:noFill/>
        </p:spPr>
        <p:txBody>
          <a:bodyPr wrap="square" rtlCol="0">
            <a:spAutoFit/>
          </a:bodyPr>
          <a:lstStyle/>
          <a:p>
            <a:r>
              <a:rPr lang="en-GB" sz="2400" dirty="0" smtClean="0">
                <a:latin typeface="Times New Roman" panose="02020603050405020304" pitchFamily="18" charset="0"/>
                <a:cs typeface="Times New Roman" panose="02020603050405020304" pitchFamily="18" charset="0"/>
              </a:rPr>
              <a:t>Description of alternate dataset: </a:t>
            </a:r>
            <a:r>
              <a:rPr lang="en-GB" sz="2400" dirty="0">
                <a:latin typeface="Times New Roman" panose="02020603050405020304" pitchFamily="18" charset="0"/>
                <a:cs typeface="Times New Roman" panose="02020603050405020304" pitchFamily="18" charset="0"/>
              </a:rPr>
              <a:t>Saudi Employee Attrition Dataset:</a:t>
            </a:r>
            <a:r>
              <a:rPr lang="en-GB" sz="2400" dirty="0" smtClean="0">
                <a:latin typeface="Times New Roman" panose="02020603050405020304" pitchFamily="18" charset="0"/>
                <a:cs typeface="Times New Roman" panose="02020603050405020304" pitchFamily="18" charset="0"/>
              </a:rPr>
              <a:t> 1191 columns, 35 rows</a:t>
            </a:r>
          </a:p>
          <a:p>
            <a:r>
              <a:rPr lang="en-GB" sz="2400" dirty="0" smtClean="0">
                <a:latin typeface="Times New Roman" panose="02020603050405020304" pitchFamily="18" charset="0"/>
                <a:cs typeface="Times New Roman" panose="02020603050405020304" pitchFamily="18" charset="0"/>
              </a:rPr>
              <a:t>Missing values: 0</a:t>
            </a:r>
          </a:p>
          <a:p>
            <a:r>
              <a:rPr lang="en-GB" sz="2400" dirty="0" smtClean="0">
                <a:latin typeface="Times New Roman" panose="02020603050405020304" pitchFamily="18" charset="0"/>
                <a:cs typeface="Times New Roman" panose="02020603050405020304" pitchFamily="18" charset="0"/>
              </a:rPr>
              <a:t>Attrition rate: 43.2%. Balanced dataset. </a:t>
            </a:r>
          </a:p>
          <a:p>
            <a:r>
              <a:rPr lang="en-GB" sz="2400" dirty="0" smtClean="0">
                <a:latin typeface="Times New Roman" panose="02020603050405020304" pitchFamily="18" charset="0"/>
                <a:cs typeface="Times New Roman" panose="02020603050405020304" pitchFamily="18" charset="0"/>
              </a:rPr>
              <a:t>Source: </a:t>
            </a:r>
            <a:r>
              <a:rPr lang="en-GB" dirty="0" smtClean="0">
                <a:latin typeface="Times New Roman" panose="02020603050405020304" pitchFamily="18" charset="0"/>
                <a:cs typeface="Times New Roman" panose="02020603050405020304" pitchFamily="18" charset="0"/>
                <a:hlinkClick r:id="rId3"/>
              </a:rPr>
              <a:t>https</a:t>
            </a:r>
            <a:r>
              <a:rPr lang="en-GB" dirty="0">
                <a:latin typeface="Times New Roman" panose="02020603050405020304" pitchFamily="18" charset="0"/>
                <a:cs typeface="Times New Roman" panose="02020603050405020304" pitchFamily="18" charset="0"/>
                <a:hlinkClick r:id="rId3"/>
              </a:rPr>
              <a:t>://data.mendeley.com/datasets/6z2hty8php/1/files/b422d0af-74b6-47b8-94ff-614e09c2382f</a:t>
            </a:r>
            <a:r>
              <a:rPr lang="en-GB" dirty="0">
                <a:latin typeface="Times New Roman" panose="02020603050405020304" pitchFamily="18" charset="0"/>
                <a:cs typeface="Times New Roman" panose="02020603050405020304" pitchFamily="18" charset="0"/>
              </a:rPr>
              <a:t> </a:t>
            </a:r>
          </a:p>
        </p:txBody>
      </p:sp>
      <p:sp>
        <p:nvSpPr>
          <p:cNvPr id="7" name="TextBox 6"/>
          <p:cNvSpPr txBox="1"/>
          <p:nvPr/>
        </p:nvSpPr>
        <p:spPr>
          <a:xfrm>
            <a:off x="628650" y="3016867"/>
            <a:ext cx="10972800" cy="954107"/>
          </a:xfrm>
          <a:prstGeom prst="rect">
            <a:avLst/>
          </a:prstGeom>
          <a:noFill/>
        </p:spPr>
        <p:txBody>
          <a:bodyPr wrap="square" rtlCol="0">
            <a:spAutoFit/>
          </a:bodyPr>
          <a:lstStyle/>
          <a:p>
            <a:pPr marL="285750" indent="-285750">
              <a:buFont typeface="Arial" panose="020B0604020202020204" pitchFamily="34" charset="0"/>
              <a:buChar char="•"/>
            </a:pPr>
            <a:r>
              <a:rPr lang="en-GB" sz="2800" b="1" dirty="0" smtClean="0">
                <a:latin typeface="Times New Roman" panose="02020603050405020304" pitchFamily="18" charset="0"/>
                <a:cs typeface="Times New Roman" panose="02020603050405020304" pitchFamily="18" charset="0"/>
              </a:rPr>
              <a:t>Gradient Boosting</a:t>
            </a:r>
          </a:p>
          <a:p>
            <a:r>
              <a:rPr lang="en-GB" sz="2800" b="1" dirty="0" smtClean="0">
                <a:latin typeface="Times New Roman" panose="02020603050405020304" pitchFamily="18" charset="0"/>
                <a:cs typeface="Times New Roman" panose="02020603050405020304" pitchFamily="18" charset="0"/>
              </a:rPr>
              <a:t> </a:t>
            </a:r>
            <a:endParaRPr lang="en-GB" sz="2800" b="1" dirty="0">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ext uri="{D42A27DB-BD31-4B8C-83A1-F6EECF244321}">
                <p14:modId xmlns:p14="http://schemas.microsoft.com/office/powerpoint/2010/main" val="2594761088"/>
              </p:ext>
            </p:extLst>
          </p:nvPr>
        </p:nvGraphicFramePr>
        <p:xfrm>
          <a:off x="838200" y="3493920"/>
          <a:ext cx="9867900" cy="3108960"/>
        </p:xfrm>
        <a:graphic>
          <a:graphicData uri="http://schemas.openxmlformats.org/drawingml/2006/table">
            <a:tbl>
              <a:tblPr firstRow="1" bandRow="1">
                <a:tableStyleId>{5C22544A-7EE6-4342-B048-85BDC9FD1C3A}</a:tableStyleId>
              </a:tblPr>
              <a:tblGrid>
                <a:gridCol w="2746971">
                  <a:extLst>
                    <a:ext uri="{9D8B030D-6E8A-4147-A177-3AD203B41FA5}">
                      <a16:colId xmlns:a16="http://schemas.microsoft.com/office/drawing/2014/main" val="2060898659"/>
                    </a:ext>
                  </a:extLst>
                </a:gridCol>
                <a:gridCol w="3552229">
                  <a:extLst>
                    <a:ext uri="{9D8B030D-6E8A-4147-A177-3AD203B41FA5}">
                      <a16:colId xmlns:a16="http://schemas.microsoft.com/office/drawing/2014/main" val="2493615343"/>
                    </a:ext>
                  </a:extLst>
                </a:gridCol>
                <a:gridCol w="3568700">
                  <a:extLst>
                    <a:ext uri="{9D8B030D-6E8A-4147-A177-3AD203B41FA5}">
                      <a16:colId xmlns:a16="http://schemas.microsoft.com/office/drawing/2014/main" val="3148497309"/>
                    </a:ext>
                  </a:extLst>
                </a:gridCol>
              </a:tblGrid>
              <a:tr h="423818">
                <a:tc>
                  <a:txBody>
                    <a:bodyPr/>
                    <a:lstStyle/>
                    <a:p>
                      <a:r>
                        <a:rPr lang="en-GB" sz="2800" dirty="0" smtClean="0">
                          <a:latin typeface="Times New Roman" panose="02020603050405020304" pitchFamily="18" charset="0"/>
                          <a:cs typeface="Times New Roman" panose="02020603050405020304" pitchFamily="18" charset="0"/>
                        </a:rPr>
                        <a:t>Metrics</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Primary Dataset </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Alternate Dataset</a:t>
                      </a:r>
                      <a:endParaRPr lang="en-GB"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68010076"/>
                  </a:ext>
                </a:extLst>
              </a:tr>
              <a:tr h="423818">
                <a:tc>
                  <a:txBody>
                    <a:bodyPr/>
                    <a:lstStyle/>
                    <a:p>
                      <a:r>
                        <a:rPr lang="en-GB" sz="2800" dirty="0" smtClean="0">
                          <a:latin typeface="Times New Roman" panose="02020603050405020304" pitchFamily="18" charset="0"/>
                          <a:cs typeface="Times New Roman" panose="02020603050405020304" pitchFamily="18" charset="0"/>
                        </a:rPr>
                        <a:t>Accuracy</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0.8867</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0.9958</a:t>
                      </a:r>
                      <a:endParaRPr lang="en-GB"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16761484"/>
                  </a:ext>
                </a:extLst>
              </a:tr>
              <a:tr h="423818">
                <a:tc>
                  <a:txBody>
                    <a:bodyPr/>
                    <a:lstStyle/>
                    <a:p>
                      <a:r>
                        <a:rPr lang="en-GB" sz="2800" dirty="0" smtClean="0">
                          <a:latin typeface="Times New Roman" panose="02020603050405020304" pitchFamily="18" charset="0"/>
                          <a:cs typeface="Times New Roman" panose="02020603050405020304" pitchFamily="18" charset="0"/>
                        </a:rPr>
                        <a:t>Precision</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0.7500</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1.0000</a:t>
                      </a:r>
                      <a:endParaRPr lang="en-GB"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32215471"/>
                  </a:ext>
                </a:extLst>
              </a:tr>
              <a:tr h="228600">
                <a:tc>
                  <a:txBody>
                    <a:bodyPr/>
                    <a:lstStyle/>
                    <a:p>
                      <a:r>
                        <a:rPr lang="en-GB" sz="2800" dirty="0" smtClean="0">
                          <a:latin typeface="Times New Roman" panose="02020603050405020304" pitchFamily="18" charset="0"/>
                          <a:cs typeface="Times New Roman" panose="02020603050405020304" pitchFamily="18" charset="0"/>
                        </a:rPr>
                        <a:t>Recall</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0.5745</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0.9903</a:t>
                      </a:r>
                      <a:endParaRPr lang="en-GB"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91125431"/>
                  </a:ext>
                </a:extLst>
              </a:tr>
              <a:tr h="228600">
                <a:tc>
                  <a:txBody>
                    <a:bodyPr/>
                    <a:lstStyle/>
                    <a:p>
                      <a:r>
                        <a:rPr lang="en-GB" sz="2800" dirty="0" smtClean="0">
                          <a:latin typeface="Times New Roman" panose="02020603050405020304" pitchFamily="18" charset="0"/>
                          <a:cs typeface="Times New Roman" panose="02020603050405020304" pitchFamily="18" charset="0"/>
                        </a:rPr>
                        <a:t>F1 score</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0.6505</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0.9951</a:t>
                      </a:r>
                      <a:endParaRPr lang="en-GB"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81740525"/>
                  </a:ext>
                </a:extLst>
              </a:tr>
              <a:tr h="228600">
                <a:tc>
                  <a:txBody>
                    <a:bodyPr/>
                    <a:lstStyle/>
                    <a:p>
                      <a:r>
                        <a:rPr lang="en-GB" sz="2800" dirty="0" smtClean="0">
                          <a:latin typeface="Times New Roman" panose="02020603050405020304" pitchFamily="18" charset="0"/>
                          <a:cs typeface="Times New Roman" panose="02020603050405020304" pitchFamily="18" charset="0"/>
                        </a:rPr>
                        <a:t>ROC- AUC</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0.9155</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0.9951</a:t>
                      </a:r>
                      <a:endParaRPr lang="en-GB"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53090296"/>
                  </a:ext>
                </a:extLst>
              </a:tr>
            </a:tbl>
          </a:graphicData>
        </a:graphic>
      </p:graphicFrame>
    </p:spTree>
    <p:extLst>
      <p:ext uri="{BB962C8B-B14F-4D97-AF65-F5344CB8AC3E}">
        <p14:creationId xmlns:p14="http://schemas.microsoft.com/office/powerpoint/2010/main" val="23719306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8175" y="152399"/>
            <a:ext cx="9886950" cy="757239"/>
          </a:xfrm>
        </p:spPr>
        <p:txBody>
          <a:bodyPr>
            <a:normAutofit fontScale="90000"/>
          </a:bodyPr>
          <a:lstStyle/>
          <a:p>
            <a:pPr algn="ctr"/>
            <a:r>
              <a:rPr lang="en-GB" sz="3600" b="1" dirty="0" smtClean="0"/>
              <a:t>Performance of Gradient Boosting for the two datasets</a:t>
            </a:r>
            <a:endParaRPr lang="en-GB" sz="3600" b="1" dirty="0"/>
          </a:p>
        </p:txBody>
      </p:sp>
      <p:pic>
        <p:nvPicPr>
          <p:cNvPr id="4" name="Content Placeholder 3"/>
          <p:cNvPicPr>
            <a:picLocks noGrp="1" noChangeAspect="1"/>
          </p:cNvPicPr>
          <p:nvPr>
            <p:ph idx="1"/>
          </p:nvPr>
        </p:nvPicPr>
        <p:blipFill>
          <a:blip r:embed="rId2"/>
          <a:stretch>
            <a:fillRect/>
          </a:stretch>
        </p:blipFill>
        <p:spPr>
          <a:xfrm>
            <a:off x="6191250" y="1214439"/>
            <a:ext cx="5625866" cy="4348161"/>
          </a:xfrm>
          <a:prstGeom prst="rect">
            <a:avLst/>
          </a:prstGeom>
        </p:spPr>
      </p:pic>
      <p:pic>
        <p:nvPicPr>
          <p:cNvPr id="5" name="Picture 4"/>
          <p:cNvPicPr>
            <a:picLocks noChangeAspect="1"/>
          </p:cNvPicPr>
          <p:nvPr/>
        </p:nvPicPr>
        <p:blipFill>
          <a:blip r:embed="rId3"/>
          <a:stretch>
            <a:fillRect/>
          </a:stretch>
        </p:blipFill>
        <p:spPr>
          <a:xfrm>
            <a:off x="381000" y="909638"/>
            <a:ext cx="5200650" cy="4652961"/>
          </a:xfrm>
          <a:prstGeom prst="rect">
            <a:avLst/>
          </a:prstGeom>
        </p:spPr>
      </p:pic>
      <p:sp>
        <p:nvSpPr>
          <p:cNvPr id="6" name="TextBox 5"/>
          <p:cNvSpPr txBox="1"/>
          <p:nvPr/>
        </p:nvSpPr>
        <p:spPr>
          <a:xfrm>
            <a:off x="857250" y="5734050"/>
            <a:ext cx="10001250" cy="369332"/>
          </a:xfrm>
          <a:prstGeom prst="rect">
            <a:avLst/>
          </a:prstGeom>
          <a:noFill/>
        </p:spPr>
        <p:txBody>
          <a:bodyPr wrap="square" rtlCol="0">
            <a:spAutoFit/>
          </a:bodyPr>
          <a:lstStyle/>
          <a:p>
            <a:r>
              <a:rPr lang="en-GB" dirty="0" smtClean="0"/>
              <a:t>Gradient boosting model performs better when working  on a balanced data – alternate data </a:t>
            </a:r>
            <a:endParaRPr lang="en-GB" dirty="0"/>
          </a:p>
        </p:txBody>
      </p:sp>
    </p:spTree>
    <p:extLst>
      <p:ext uri="{BB962C8B-B14F-4D97-AF65-F5344CB8AC3E}">
        <p14:creationId xmlns:p14="http://schemas.microsoft.com/office/powerpoint/2010/main" val="201288895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6279469" y="1001340"/>
            <a:ext cx="5443906" cy="4515140"/>
          </a:xfrm>
          <a:prstGeom prst="rect">
            <a:avLst/>
          </a:prstGeom>
        </p:spPr>
      </p:pic>
      <p:pic>
        <p:nvPicPr>
          <p:cNvPr id="6" name="Picture 5"/>
          <p:cNvPicPr>
            <a:picLocks noChangeAspect="1"/>
          </p:cNvPicPr>
          <p:nvPr/>
        </p:nvPicPr>
        <p:blipFill rotWithShape="1">
          <a:blip r:embed="rId3"/>
          <a:srcRect r="50920" b="33929"/>
          <a:stretch/>
        </p:blipFill>
        <p:spPr>
          <a:xfrm>
            <a:off x="51971" y="1001340"/>
            <a:ext cx="5835702" cy="4416879"/>
          </a:xfrm>
          <a:prstGeom prst="rect">
            <a:avLst/>
          </a:prstGeom>
          <a:ln>
            <a:solidFill>
              <a:schemeClr val="tx1"/>
            </a:solidFill>
          </a:ln>
        </p:spPr>
      </p:pic>
      <p:sp>
        <p:nvSpPr>
          <p:cNvPr id="7" name="TextBox 6"/>
          <p:cNvSpPr txBox="1"/>
          <p:nvPr/>
        </p:nvSpPr>
        <p:spPr>
          <a:xfrm>
            <a:off x="506048" y="5154530"/>
            <a:ext cx="10763250" cy="1200329"/>
          </a:xfrm>
          <a:prstGeom prst="rect">
            <a:avLst/>
          </a:prstGeom>
          <a:noFill/>
        </p:spPr>
        <p:txBody>
          <a:bodyPr wrap="square" rtlCol="0">
            <a:spAutoFit/>
          </a:bodyPr>
          <a:lstStyle/>
          <a:p>
            <a:pPr marL="285750" indent="-285750">
              <a:buFont typeface="Arial" panose="020B0604020202020204" pitchFamily="34" charset="0"/>
              <a:buChar char="•"/>
            </a:pPr>
            <a:endParaRPr lang="en-GB"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The model has a strong discriminative power on the alternate dataset i.e. at 99%, it can correctly predict the employees who  will  leave or stay</a:t>
            </a:r>
            <a:endParaRPr lang="en-GB" sz="2400" dirty="0">
              <a:latin typeface="Times New Roman" panose="02020603050405020304" pitchFamily="18" charset="0"/>
              <a:cs typeface="Times New Roman" panose="02020603050405020304" pitchFamily="18" charset="0"/>
            </a:endParaRPr>
          </a:p>
        </p:txBody>
      </p:sp>
      <p:sp>
        <p:nvSpPr>
          <p:cNvPr id="8" name="Title 1"/>
          <p:cNvSpPr>
            <a:spLocks noGrp="1"/>
          </p:cNvSpPr>
          <p:nvPr>
            <p:ph type="title"/>
          </p:nvPr>
        </p:nvSpPr>
        <p:spPr>
          <a:xfrm>
            <a:off x="638175" y="152399"/>
            <a:ext cx="9886950" cy="757239"/>
          </a:xfrm>
        </p:spPr>
        <p:txBody>
          <a:bodyPr>
            <a:normAutofit fontScale="90000"/>
          </a:bodyPr>
          <a:lstStyle/>
          <a:p>
            <a:pPr algn="ctr"/>
            <a:r>
              <a:rPr lang="en-GB" sz="3600" b="1" dirty="0" smtClean="0"/>
              <a:t>Performance of Gradient Boosting for the two datasets</a:t>
            </a:r>
            <a:endParaRPr lang="en-GB" sz="3600" b="1" dirty="0"/>
          </a:p>
        </p:txBody>
      </p:sp>
    </p:spTree>
    <p:extLst>
      <p:ext uri="{BB962C8B-B14F-4D97-AF65-F5344CB8AC3E}">
        <p14:creationId xmlns:p14="http://schemas.microsoft.com/office/powerpoint/2010/main" val="324550248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704247827"/>
              </p:ext>
            </p:extLst>
          </p:nvPr>
        </p:nvGraphicFramePr>
        <p:xfrm>
          <a:off x="628650" y="1638300"/>
          <a:ext cx="11163300" cy="4171950"/>
        </p:xfrm>
        <a:graphic>
          <a:graphicData uri="http://schemas.openxmlformats.org/drawingml/2006/table">
            <a:tbl>
              <a:tblPr firstRow="1" bandRow="1">
                <a:tableStyleId>{5C22544A-7EE6-4342-B048-85BDC9FD1C3A}</a:tableStyleId>
              </a:tblPr>
              <a:tblGrid>
                <a:gridCol w="2851394">
                  <a:extLst>
                    <a:ext uri="{9D8B030D-6E8A-4147-A177-3AD203B41FA5}">
                      <a16:colId xmlns:a16="http://schemas.microsoft.com/office/drawing/2014/main" val="2060898659"/>
                    </a:ext>
                  </a:extLst>
                </a:gridCol>
                <a:gridCol w="3801858">
                  <a:extLst>
                    <a:ext uri="{9D8B030D-6E8A-4147-A177-3AD203B41FA5}">
                      <a16:colId xmlns:a16="http://schemas.microsoft.com/office/drawing/2014/main" val="2493615343"/>
                    </a:ext>
                  </a:extLst>
                </a:gridCol>
                <a:gridCol w="4510048">
                  <a:extLst>
                    <a:ext uri="{9D8B030D-6E8A-4147-A177-3AD203B41FA5}">
                      <a16:colId xmlns:a16="http://schemas.microsoft.com/office/drawing/2014/main" val="3148497309"/>
                    </a:ext>
                  </a:extLst>
                </a:gridCol>
              </a:tblGrid>
              <a:tr h="695325">
                <a:tc>
                  <a:txBody>
                    <a:bodyPr/>
                    <a:lstStyle/>
                    <a:p>
                      <a:r>
                        <a:rPr lang="en-GB" sz="2800" dirty="0" smtClean="0">
                          <a:latin typeface="Times New Roman" panose="02020603050405020304" pitchFamily="18" charset="0"/>
                          <a:cs typeface="Times New Roman" panose="02020603050405020304" pitchFamily="18" charset="0"/>
                        </a:rPr>
                        <a:t>Metrics</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Primary Dataset </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Alternate Dataset</a:t>
                      </a:r>
                      <a:endParaRPr lang="en-GB"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68010076"/>
                  </a:ext>
                </a:extLst>
              </a:tr>
              <a:tr h="695325">
                <a:tc>
                  <a:txBody>
                    <a:bodyPr/>
                    <a:lstStyle/>
                    <a:p>
                      <a:r>
                        <a:rPr lang="en-GB" sz="2800" dirty="0" smtClean="0">
                          <a:latin typeface="Times New Roman" panose="02020603050405020304" pitchFamily="18" charset="0"/>
                          <a:cs typeface="Times New Roman" panose="02020603050405020304" pitchFamily="18" charset="0"/>
                        </a:rPr>
                        <a:t>Accuracy</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0.8672</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0.9874</a:t>
                      </a:r>
                      <a:endParaRPr lang="en-GB"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16761484"/>
                  </a:ext>
                </a:extLst>
              </a:tr>
              <a:tr h="695325">
                <a:tc>
                  <a:txBody>
                    <a:bodyPr/>
                    <a:lstStyle/>
                    <a:p>
                      <a:r>
                        <a:rPr lang="en-GB" sz="2800" dirty="0" smtClean="0">
                          <a:latin typeface="Times New Roman" panose="02020603050405020304" pitchFamily="18" charset="0"/>
                          <a:cs typeface="Times New Roman" panose="02020603050405020304" pitchFamily="18" charset="0"/>
                        </a:rPr>
                        <a:t>Precision</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0.6750</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0.9902</a:t>
                      </a:r>
                      <a:endParaRPr lang="en-GB"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32215471"/>
                  </a:ext>
                </a:extLst>
              </a:tr>
              <a:tr h="695325">
                <a:tc>
                  <a:txBody>
                    <a:bodyPr/>
                    <a:lstStyle/>
                    <a:p>
                      <a:r>
                        <a:rPr lang="en-GB" sz="2800" dirty="0" smtClean="0">
                          <a:latin typeface="Times New Roman" panose="02020603050405020304" pitchFamily="18" charset="0"/>
                          <a:cs typeface="Times New Roman" panose="02020603050405020304" pitchFamily="18" charset="0"/>
                        </a:rPr>
                        <a:t>Recall</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0.5745</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0.9806</a:t>
                      </a:r>
                      <a:endParaRPr lang="en-GB"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91125431"/>
                  </a:ext>
                </a:extLst>
              </a:tr>
              <a:tr h="695325">
                <a:tc>
                  <a:txBody>
                    <a:bodyPr/>
                    <a:lstStyle/>
                    <a:p>
                      <a:r>
                        <a:rPr lang="en-GB" sz="2800" dirty="0" smtClean="0">
                          <a:latin typeface="Times New Roman" panose="02020603050405020304" pitchFamily="18" charset="0"/>
                          <a:cs typeface="Times New Roman" panose="02020603050405020304" pitchFamily="18" charset="0"/>
                        </a:rPr>
                        <a:t>F1 score</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0.6207</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0.9854</a:t>
                      </a:r>
                      <a:endParaRPr lang="en-GB"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81740525"/>
                  </a:ext>
                </a:extLst>
              </a:tr>
              <a:tr h="695325">
                <a:tc>
                  <a:txBody>
                    <a:bodyPr/>
                    <a:lstStyle/>
                    <a:p>
                      <a:r>
                        <a:rPr lang="en-GB" sz="2800" dirty="0" smtClean="0">
                          <a:latin typeface="Times New Roman" panose="02020603050405020304" pitchFamily="18" charset="0"/>
                          <a:cs typeface="Times New Roman" panose="02020603050405020304" pitchFamily="18" charset="0"/>
                        </a:rPr>
                        <a:t>ROC- AUC</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0.8923</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dirty="0" smtClean="0">
                          <a:latin typeface="Times New Roman" panose="02020603050405020304" pitchFamily="18" charset="0"/>
                          <a:cs typeface="Times New Roman" panose="02020603050405020304" pitchFamily="18" charset="0"/>
                        </a:rPr>
                        <a:t>0.9965</a:t>
                      </a:r>
                      <a:endParaRPr lang="en-GB"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53090296"/>
                  </a:ext>
                </a:extLst>
              </a:tr>
            </a:tbl>
          </a:graphicData>
        </a:graphic>
      </p:graphicFrame>
      <p:sp>
        <p:nvSpPr>
          <p:cNvPr id="5" name="TextBox 4"/>
          <p:cNvSpPr txBox="1"/>
          <p:nvPr/>
        </p:nvSpPr>
        <p:spPr>
          <a:xfrm>
            <a:off x="1428750" y="495300"/>
            <a:ext cx="8915400" cy="523220"/>
          </a:xfrm>
          <a:prstGeom prst="rect">
            <a:avLst/>
          </a:prstGeom>
          <a:noFill/>
        </p:spPr>
        <p:txBody>
          <a:bodyPr wrap="square" rtlCol="0">
            <a:spAutoFit/>
          </a:bodyPr>
          <a:lstStyle/>
          <a:p>
            <a:pPr algn="ctr"/>
            <a:r>
              <a:rPr lang="en-GB" sz="2800" b="1" dirty="0" smtClean="0">
                <a:latin typeface="Times New Roman" panose="02020603050405020304" pitchFamily="18" charset="0"/>
                <a:cs typeface="Times New Roman" panose="02020603050405020304" pitchFamily="18" charset="0"/>
              </a:rPr>
              <a:t> Neural Network model Evaluation</a:t>
            </a:r>
            <a:endParaRPr lang="en-GB"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206263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38408" y="490244"/>
            <a:ext cx="5914742" cy="4216353"/>
          </a:xfrm>
          <a:prstGeom prst="rect">
            <a:avLst/>
          </a:prstGeom>
        </p:spPr>
      </p:pic>
      <p:pic>
        <p:nvPicPr>
          <p:cNvPr id="5" name="Picture 4"/>
          <p:cNvPicPr>
            <a:picLocks noChangeAspect="1"/>
          </p:cNvPicPr>
          <p:nvPr/>
        </p:nvPicPr>
        <p:blipFill>
          <a:blip r:embed="rId3"/>
          <a:stretch>
            <a:fillRect/>
          </a:stretch>
        </p:blipFill>
        <p:spPr>
          <a:xfrm>
            <a:off x="6666729" y="845852"/>
            <a:ext cx="5318841" cy="3860745"/>
          </a:xfrm>
          <a:prstGeom prst="rect">
            <a:avLst/>
          </a:prstGeom>
        </p:spPr>
      </p:pic>
      <p:sp>
        <p:nvSpPr>
          <p:cNvPr id="6" name="TextBox 5"/>
          <p:cNvSpPr txBox="1"/>
          <p:nvPr/>
        </p:nvSpPr>
        <p:spPr>
          <a:xfrm>
            <a:off x="561975" y="4991100"/>
            <a:ext cx="11182350" cy="369332"/>
          </a:xfrm>
          <a:prstGeom prst="rect">
            <a:avLst/>
          </a:prstGeom>
          <a:noFill/>
        </p:spPr>
        <p:txBody>
          <a:bodyPr wrap="square" rtlCol="0">
            <a:spAutoFit/>
          </a:bodyPr>
          <a:lstStyle/>
          <a:p>
            <a:pPr marL="285750" indent="-285750">
              <a:buFont typeface="Arial" panose="020B0604020202020204" pitchFamily="34" charset="0"/>
              <a:buChar char="•"/>
            </a:pPr>
            <a:r>
              <a:rPr lang="en-GB" dirty="0" smtClean="0"/>
              <a:t>For the balanced dataset the model, can predict employees at risk of Attrition: 99.7% of the time  </a:t>
            </a:r>
            <a:endParaRPr lang="en-GB" dirty="0"/>
          </a:p>
        </p:txBody>
      </p:sp>
    </p:spTree>
    <p:extLst>
      <p:ext uri="{BB962C8B-B14F-4D97-AF65-F5344CB8AC3E}">
        <p14:creationId xmlns:p14="http://schemas.microsoft.com/office/powerpoint/2010/main" val="347263096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5839584" y="704850"/>
            <a:ext cx="6123816" cy="4305300"/>
          </a:xfrm>
          <a:prstGeom prst="rect">
            <a:avLst/>
          </a:prstGeom>
        </p:spPr>
      </p:pic>
      <p:pic>
        <p:nvPicPr>
          <p:cNvPr id="5" name="Picture 4"/>
          <p:cNvPicPr>
            <a:picLocks noChangeAspect="1"/>
          </p:cNvPicPr>
          <p:nvPr/>
        </p:nvPicPr>
        <p:blipFill>
          <a:blip r:embed="rId4"/>
          <a:stretch>
            <a:fillRect/>
          </a:stretch>
        </p:blipFill>
        <p:spPr>
          <a:xfrm>
            <a:off x="228600" y="846786"/>
            <a:ext cx="5610984" cy="4011719"/>
          </a:xfrm>
          <a:prstGeom prst="rect">
            <a:avLst/>
          </a:prstGeom>
        </p:spPr>
      </p:pic>
      <p:sp>
        <p:nvSpPr>
          <p:cNvPr id="6" name="TextBox 5"/>
          <p:cNvSpPr txBox="1"/>
          <p:nvPr/>
        </p:nvSpPr>
        <p:spPr>
          <a:xfrm>
            <a:off x="590550" y="5010150"/>
            <a:ext cx="10382250" cy="461665"/>
          </a:xfrm>
          <a:prstGeom prst="rect">
            <a:avLst/>
          </a:prstGeom>
          <a:noFill/>
        </p:spPr>
        <p:txBody>
          <a:bodyPr wrap="square" rtlCol="0">
            <a:spAutoFit/>
          </a:bodyPr>
          <a:lstStyle/>
          <a:p>
            <a:pPr marL="285750" indent="-285750">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The model is learning genuine patterns as the epochs increase</a:t>
            </a:r>
          </a:p>
        </p:txBody>
      </p:sp>
      <p:sp>
        <p:nvSpPr>
          <p:cNvPr id="7" name="TextBox 6"/>
          <p:cNvSpPr txBox="1"/>
          <p:nvPr/>
        </p:nvSpPr>
        <p:spPr>
          <a:xfrm>
            <a:off x="1200150" y="29985"/>
            <a:ext cx="7981950" cy="523220"/>
          </a:xfrm>
          <a:prstGeom prst="rect">
            <a:avLst/>
          </a:prstGeom>
          <a:noFill/>
        </p:spPr>
        <p:txBody>
          <a:bodyPr wrap="square" rtlCol="0">
            <a:spAutoFit/>
          </a:bodyPr>
          <a:lstStyle/>
          <a:p>
            <a:pPr algn="ctr"/>
            <a:r>
              <a:rPr lang="en-GB" sz="2800" b="1" dirty="0" smtClean="0"/>
              <a:t>Learning Curves for the Neural Network model</a:t>
            </a:r>
            <a:endParaRPr lang="en-GB" sz="2800" b="1" dirty="0"/>
          </a:p>
        </p:txBody>
      </p:sp>
    </p:spTree>
    <p:extLst>
      <p:ext uri="{BB962C8B-B14F-4D97-AF65-F5344CB8AC3E}">
        <p14:creationId xmlns:p14="http://schemas.microsoft.com/office/powerpoint/2010/main" val="361986717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7153"/>
            <a:ext cx="10515600" cy="1325563"/>
          </a:xfrm>
        </p:spPr>
        <p:txBody>
          <a:bodyPr/>
          <a:lstStyle/>
          <a:p>
            <a:r>
              <a:rPr lang="en-GB" b="1" dirty="0" smtClean="0"/>
              <a:t>Demo interface</a:t>
            </a:r>
            <a:endParaRPr lang="en-GB" b="1" dirty="0"/>
          </a:p>
        </p:txBody>
      </p:sp>
      <p:sp>
        <p:nvSpPr>
          <p:cNvPr id="3" name="Content Placeholder 2"/>
          <p:cNvSpPr>
            <a:spLocks noGrp="1"/>
          </p:cNvSpPr>
          <p:nvPr>
            <p:ph idx="1"/>
          </p:nvPr>
        </p:nvSpPr>
        <p:spPr>
          <a:xfrm>
            <a:off x="704850" y="1592716"/>
            <a:ext cx="10648950" cy="4584247"/>
          </a:xfrm>
        </p:spPr>
        <p:txBody>
          <a:bodyPr/>
          <a:lstStyle/>
          <a:p>
            <a:pPr marL="0" indent="0">
              <a:buNone/>
            </a:pPr>
            <a:r>
              <a:rPr lang="en-GB" b="1" dirty="0" err="1" smtClean="0"/>
              <a:t>Gradio</a:t>
            </a:r>
            <a:r>
              <a:rPr lang="en-GB" b="1" dirty="0" smtClean="0"/>
              <a:t> demo interface: </a:t>
            </a:r>
            <a:r>
              <a:rPr lang="en-GB" dirty="0">
                <a:hlinkClick r:id="rId2"/>
              </a:rPr>
              <a:t>https://dc379117c7a6e47f94.gradio.live</a:t>
            </a:r>
            <a:endParaRPr lang="en-GB" b="1" dirty="0"/>
          </a:p>
        </p:txBody>
      </p:sp>
    </p:spTree>
    <p:extLst>
      <p:ext uri="{BB962C8B-B14F-4D97-AF65-F5344CB8AC3E}">
        <p14:creationId xmlns:p14="http://schemas.microsoft.com/office/powerpoint/2010/main" val="41988890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216025"/>
          </a:xfrm>
        </p:spPr>
        <p:txBody>
          <a:bodyPr/>
          <a:lstStyle/>
          <a:p>
            <a:pPr algn="ctr"/>
            <a:r>
              <a:rPr lang="en-GB" b="1" dirty="0" smtClean="0"/>
              <a:t>Conclusion</a:t>
            </a:r>
            <a:endParaRPr lang="en-GB" b="1" dirty="0"/>
          </a:p>
        </p:txBody>
      </p:sp>
      <p:sp>
        <p:nvSpPr>
          <p:cNvPr id="4" name="TextBox 3"/>
          <p:cNvSpPr txBox="1"/>
          <p:nvPr/>
        </p:nvSpPr>
        <p:spPr>
          <a:xfrm>
            <a:off x="1143000" y="1828800"/>
            <a:ext cx="10858500" cy="523220"/>
          </a:xfrm>
          <a:prstGeom prst="rect">
            <a:avLst/>
          </a:prstGeom>
          <a:noFill/>
        </p:spPr>
        <p:txBody>
          <a:bodyPr wrap="square" rtlCol="0">
            <a:spAutoFit/>
          </a:bodyPr>
          <a:lstStyle/>
          <a:p>
            <a:pPr marL="285750" indent="-285750">
              <a:buFont typeface="Arial" panose="020B0604020202020204" pitchFamily="34" charset="0"/>
              <a:buChar char="•"/>
            </a:pPr>
            <a:r>
              <a:rPr lang="en-GB" sz="2800" dirty="0" smtClean="0">
                <a:latin typeface="Times New Roman" panose="02020603050405020304" pitchFamily="18" charset="0"/>
                <a:cs typeface="Times New Roman" panose="02020603050405020304" pitchFamily="18" charset="0"/>
              </a:rPr>
              <a:t>The model performs better on a balanced dataset</a:t>
            </a:r>
            <a:endParaRPr lang="en-GB"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761390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GB" b="1" dirty="0" smtClean="0">
                <a:latin typeface="Times New Roman" panose="02020603050405020304" pitchFamily="18" charset="0"/>
                <a:cs typeface="Times New Roman" panose="02020603050405020304" pitchFamily="18" charset="0"/>
              </a:rPr>
              <a:t>Reference</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181100"/>
            <a:ext cx="11087100" cy="4995863"/>
          </a:xfrm>
        </p:spPr>
        <p:txBody>
          <a:bodyPr>
            <a:normAutofit/>
          </a:bodyPr>
          <a:lstStyle/>
          <a:p>
            <a:r>
              <a:rPr lang="en-GB" b="1" u="sng" dirty="0" smtClean="0">
                <a:latin typeface="Times New Roman" panose="02020603050405020304" pitchFamily="18" charset="0"/>
                <a:cs typeface="Times New Roman" panose="02020603050405020304" pitchFamily="18" charset="0"/>
              </a:rPr>
              <a:t>Data Source: (</a:t>
            </a:r>
            <a:r>
              <a:rPr lang="en-GB" dirty="0" err="1" smtClean="0">
                <a:latin typeface="Times New Roman" panose="02020603050405020304" pitchFamily="18" charset="0"/>
                <a:cs typeface="Times New Roman" panose="02020603050405020304" pitchFamily="18" charset="0"/>
              </a:rPr>
              <a:t>DataCamp</a:t>
            </a:r>
            <a:r>
              <a:rPr lang="en-GB" b="1" u="sng" dirty="0" smtClean="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hlinkClick r:id="rId3"/>
              </a:rPr>
              <a:t>https://app.datacamp.com/learn/courses/case-study-hr-analytics-in-tableau</a:t>
            </a:r>
            <a:r>
              <a:rPr lang="en-GB" dirty="0" smtClean="0">
                <a:latin typeface="Times New Roman" panose="02020603050405020304" pitchFamily="18" charset="0"/>
                <a:cs typeface="Times New Roman" panose="02020603050405020304" pitchFamily="18" charset="0"/>
              </a:rPr>
              <a:t> </a:t>
            </a:r>
          </a:p>
          <a:p>
            <a:pPr marL="0" indent="0">
              <a:buNone/>
            </a:pPr>
            <a:endParaRPr lang="en-GB" dirty="0" smtClean="0">
              <a:latin typeface="Times New Roman" panose="02020603050405020304" pitchFamily="18" charset="0"/>
              <a:cs typeface="Times New Roman" panose="02020603050405020304" pitchFamily="18" charset="0"/>
            </a:endParaRPr>
          </a:p>
          <a:p>
            <a:r>
              <a:rPr lang="en-GB" b="1" dirty="0" smtClean="0">
                <a:latin typeface="Times New Roman" panose="02020603050405020304" pitchFamily="18" charset="0"/>
                <a:cs typeface="Times New Roman" panose="02020603050405020304" pitchFamily="18" charset="0"/>
              </a:rPr>
              <a:t>Alternate dataset: </a:t>
            </a:r>
          </a:p>
          <a:p>
            <a:pPr marL="0" indent="0">
              <a:buNone/>
            </a:pPr>
            <a:r>
              <a:rPr lang="en-GB" dirty="0">
                <a:latin typeface="Times New Roman" panose="02020603050405020304" pitchFamily="18" charset="0"/>
                <a:cs typeface="Times New Roman" panose="02020603050405020304" pitchFamily="18" charset="0"/>
              </a:rPr>
              <a:t>Saudi Employee Attrition </a:t>
            </a:r>
            <a:r>
              <a:rPr lang="en-GB" dirty="0" smtClean="0">
                <a:latin typeface="Times New Roman" panose="02020603050405020304" pitchFamily="18" charset="0"/>
                <a:cs typeface="Times New Roman" panose="02020603050405020304" pitchFamily="18" charset="0"/>
              </a:rPr>
              <a:t>Dataset: </a:t>
            </a:r>
            <a:r>
              <a:rPr lang="en-GB" dirty="0" smtClean="0">
                <a:latin typeface="Times New Roman" panose="02020603050405020304" pitchFamily="18" charset="0"/>
                <a:cs typeface="Times New Roman" panose="02020603050405020304" pitchFamily="18" charset="0"/>
                <a:hlinkClick r:id="rId4"/>
              </a:rPr>
              <a:t>https://data.mendeley.com/datasets/6z2hty8php/1/files/b422d0af-74b6-47b8-94ff-614e09c2382f</a:t>
            </a:r>
            <a:r>
              <a:rPr lang="en-GB" dirty="0" smtClean="0">
                <a:latin typeface="Times New Roman" panose="02020603050405020304" pitchFamily="18" charset="0"/>
                <a:cs typeface="Times New Roman" panose="02020603050405020304" pitchFamily="18" charset="0"/>
              </a:rPr>
              <a:t> </a:t>
            </a:r>
            <a:endParaRPr lang="en-GB" dirty="0">
              <a:latin typeface="Times New Roman" panose="02020603050405020304" pitchFamily="18" charset="0"/>
              <a:cs typeface="Times New Roman" panose="02020603050405020304" pitchFamily="18" charset="0"/>
            </a:endParaRP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b="1" dirty="0" err="1">
                <a:latin typeface="Times New Roman" panose="02020603050405020304" pitchFamily="18" charset="0"/>
                <a:cs typeface="Times New Roman" panose="02020603050405020304" pitchFamily="18" charset="0"/>
              </a:rPr>
              <a:t>Github</a:t>
            </a:r>
            <a:r>
              <a:rPr lang="en-GB" b="1" dirty="0">
                <a:latin typeface="Times New Roman" panose="02020603050405020304" pitchFamily="18" charset="0"/>
                <a:cs typeface="Times New Roman" panose="02020603050405020304" pitchFamily="18" charset="0"/>
              </a:rPr>
              <a:t> Repo: </a:t>
            </a:r>
            <a:r>
              <a:rPr lang="en-GB" u="sng" dirty="0" smtClean="0">
                <a:latin typeface="Times New Roman" panose="02020603050405020304" pitchFamily="18" charset="0"/>
                <a:cs typeface="Times New Roman" panose="02020603050405020304" pitchFamily="18" charset="0"/>
                <a:hlinkClick r:id="rId5"/>
              </a:rPr>
              <a:t>https://github.com/pheebnabun-art/Final-project_Data-Science-and-Machine-Learning-course</a:t>
            </a:r>
            <a:endParaRPr lang="en-GB" dirty="0" smtClean="0">
              <a:latin typeface="Times New Roman" panose="02020603050405020304" pitchFamily="18" charset="0"/>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197636568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9471" y="212271"/>
            <a:ext cx="10684329" cy="5964692"/>
          </a:xfrm>
          <a:ln>
            <a:solidFill>
              <a:schemeClr val="bg1"/>
            </a:solidFill>
          </a:ln>
        </p:spPr>
        <p:txBody>
          <a:bodyPr/>
          <a:lstStyle/>
          <a:p>
            <a:pPr marL="0" indent="0" algn="ctr">
              <a:buNone/>
            </a:pPr>
            <a:endParaRPr lang="en-GB" dirty="0" smtClean="0"/>
          </a:p>
          <a:p>
            <a:pPr marL="0" indent="0" algn="ctr">
              <a:buNone/>
            </a:pPr>
            <a:endParaRPr lang="en-GB" dirty="0"/>
          </a:p>
          <a:p>
            <a:pPr marL="0" indent="0" algn="ctr">
              <a:buNone/>
            </a:pPr>
            <a:endParaRPr lang="en-GB" dirty="0" smtClean="0"/>
          </a:p>
          <a:p>
            <a:pPr marL="0" indent="0" algn="ctr">
              <a:buNone/>
            </a:pPr>
            <a:endParaRPr lang="en-GB" dirty="0"/>
          </a:p>
          <a:p>
            <a:pPr marL="0" indent="0" algn="ctr">
              <a:buNone/>
            </a:pPr>
            <a:r>
              <a:rPr lang="en-GB" sz="9600" dirty="0" smtClean="0"/>
              <a:t>Thank you </a:t>
            </a:r>
            <a:endParaRPr lang="en-GB" sz="9600" dirty="0"/>
          </a:p>
        </p:txBody>
      </p:sp>
    </p:spTree>
    <p:extLst>
      <p:ext uri="{BB962C8B-B14F-4D97-AF65-F5344CB8AC3E}">
        <p14:creationId xmlns:p14="http://schemas.microsoft.com/office/powerpoint/2010/main" val="79106873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14447</TotalTime>
  <Words>2004</Words>
  <Application>Microsoft Office PowerPoint</Application>
  <PresentationFormat>Widescreen</PresentationFormat>
  <Paragraphs>524</Paragraphs>
  <Slides>37</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Arial Unicode MS</vt:lpstr>
      <vt:lpstr>Calibri</vt:lpstr>
      <vt:lpstr>Calibri Light</vt:lpstr>
      <vt:lpstr>Times New Roman</vt:lpstr>
      <vt:lpstr>Office Theme</vt:lpstr>
      <vt:lpstr>PowerPoint Presentation</vt:lpstr>
      <vt:lpstr>Machine Learning Goal</vt:lpstr>
      <vt:lpstr>Dataset description</vt:lpstr>
      <vt:lpstr>Data Dictionary: Employee Data</vt:lpstr>
      <vt:lpstr>Data Dictionary: Performance rating</vt:lpstr>
      <vt:lpstr>Data Dictionary: Education Level</vt:lpstr>
      <vt:lpstr>Description of data</vt:lpstr>
      <vt:lpstr>PowerPoint Presentation</vt:lpstr>
      <vt:lpstr>PowerPoint Presentation</vt:lpstr>
      <vt:lpstr>PowerPoint Presentation</vt:lpstr>
      <vt:lpstr>PowerPoint Presentation</vt:lpstr>
      <vt:lpstr>PowerPoint Presentation</vt:lpstr>
      <vt:lpstr>Attrition distribution</vt:lpstr>
      <vt:lpstr>PowerPoint Presentation</vt:lpstr>
      <vt:lpstr>Attrition by Overtime</vt:lpstr>
      <vt:lpstr>PowerPoint Presentation</vt:lpstr>
      <vt:lpstr>PowerPoint Presentation</vt:lpstr>
      <vt:lpstr>PowerPoint Presentation</vt:lpstr>
      <vt:lpstr>PowerPoint Presentation</vt:lpstr>
      <vt:lpstr>PowerPoint Presentation</vt:lpstr>
      <vt:lpstr>Machine Learning models</vt:lpstr>
      <vt:lpstr>Evaluation Metrics</vt:lpstr>
      <vt:lpstr>PowerPoint Presentation</vt:lpstr>
      <vt:lpstr>PowerPoint Presentation</vt:lpstr>
      <vt:lpstr>PowerPoint Presentation</vt:lpstr>
      <vt:lpstr>PowerPoint Presentation</vt:lpstr>
      <vt:lpstr>Neural network Metrics</vt:lpstr>
      <vt:lpstr>Comparative study of  the Two models </vt:lpstr>
      <vt:lpstr>Performance of Gradient Boosting for the two datasets</vt:lpstr>
      <vt:lpstr>Performance of Gradient Boosting for the two datasets</vt:lpstr>
      <vt:lpstr>PowerPoint Presentation</vt:lpstr>
      <vt:lpstr>PowerPoint Presentation</vt:lpstr>
      <vt:lpstr>PowerPoint Presentation</vt:lpstr>
      <vt:lpstr>Demo interface</vt:lpstr>
      <vt:lpstr>Conclusion</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Phoebe Nabunya</dc:creator>
  <cp:lastModifiedBy>Phoebe Nabunya</cp:lastModifiedBy>
  <cp:revision>145</cp:revision>
  <dcterms:created xsi:type="dcterms:W3CDTF">2026-04-20T09:50:50Z</dcterms:created>
  <dcterms:modified xsi:type="dcterms:W3CDTF">2026-04-30T12:02:43Z</dcterms:modified>
</cp:coreProperties>
</file>